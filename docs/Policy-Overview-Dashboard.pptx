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77" r:id="rId2"/>
    <p:sldId id="2147472225" r:id="rId3"/>
    <p:sldId id="2147472226" r:id="rId9"/>
    <p:sldId id="2147472227" r:id="rId8"/>
    <p:sldId id="2147472228" r:id="rId7"/>
    <p:sldId id="2147472229" r:id="rId6"/>
    <p:sldId id="2147472230" r:id="rId5"/>
    <p:sldId id="2147472231" r:id="rId4"/>
    <p:sldId id="2147472232"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81" d="100"/>
          <a:sy n="81" d="100"/>
        </p:scale>
        <p:origin x="754"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8.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F32CD3-80BE-4400-B0FD-AA184D52B094}" type="datetimeFigureOut">
              <a:rPr lang="en-IN" smtClean="0"/>
              <a:t>09-06-2026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BA0AF21-0A34-4130-AB30-E6AFE1AF1E5D}" type="slidenum">
              <a:rPr lang="en-IN" smtClean="0"/>
              <a:t>‹#›</a:t>
            </a:fld>
            <a:endParaRPr lang="en-IN"/>
          </a:p>
        </p:txBody>
      </p:sp>
    </p:spTree>
    <p:extLst>
      <p:ext uri="{BB962C8B-B14F-4D97-AF65-F5344CB8AC3E}">
        <p14:creationId xmlns:p14="http://schemas.microsoft.com/office/powerpoint/2010/main" val="10412008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45AF4B5-3E5C-F84D-A668-6F62F852D3B7}" type="slidenum">
              <a:rPr lang="en-US" smtClean="0"/>
              <a:t>1</a:t>
            </a:fld>
            <a:endParaRPr lang="en-US"/>
          </a:p>
        </p:txBody>
      </p:sp>
    </p:spTree>
    <p:extLst>
      <p:ext uri="{BB962C8B-B14F-4D97-AF65-F5344CB8AC3E}">
        <p14:creationId xmlns:p14="http://schemas.microsoft.com/office/powerpoint/2010/main" val="29607528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45AF4B5-3E5C-F84D-A668-6F62F852D3B7}" type="slidenum">
              <a:rPr lang="en-US" smtClean="0"/>
              <a:t>2</a:t>
            </a:fld>
            <a:endParaRPr lang="en-US"/>
          </a:p>
        </p:txBody>
      </p:sp>
    </p:spTree>
    <p:extLst>
      <p:ext uri="{BB962C8B-B14F-4D97-AF65-F5344CB8AC3E}">
        <p14:creationId xmlns:p14="http://schemas.microsoft.com/office/powerpoint/2010/main" val="54454137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design is hexagonal / clean architecture. The domain at the centre is a plain POJO model with no JPA or Spring imports - we verified this. The service orchestrates use cases and depends only on the domain's PolicyRepositoryPort interface. Infrastructure implements that port, so the database technology can change without touching domain or service code. API sits on the outside and only handles HTTP.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architectural choice was made for a concrete payoff, not for its own sake. The recurring theme is isolation: the domain is protected from frameworks, persistence, and presentation, which keeps the core testable and the system easy to change.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repository is public on GitHub. We work on dev and keep master in sync. Every push runs the CI pipeline, which must pass tests and the coverage gate before a Docker image is published to GHCR. Actions are pinned to commit SHAs and Dependabot is enabled for supply-chain security.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endpoints, all under /api/v1/policies. The list endpoint is the workhorse with filtering, sorting, search and pagination. We are contract-first: the OpenAPI spec is authored alongside the code and served live through Swagger UI, so consumers always have an accurate contract.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list endpoint accepts a set of optional, composable filters plus standard paging and sorting. Errors are deliberate and clean: 404 for an unknown id, 400 for bad input, 503 when the database is down - always a structured body, never a stack trace. Note the search term is never logged because it can contain PII.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working journal is honest about the collaboration. We accepted clear requests, but also pushed back when something violated the architecture or risked leaking PII, steered a few decisions, and corrected our own mistakes. The full log lives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Testing is layered: fast unit tests, a controller slice, and full-stack acceptance tests running against a real PostgreSQL via Testcontainers, plus an explicit database-failure path. Quality is enforced, not just measured - JaCoCo gates coverage and Gatling gates latency inside the build, so a regression fails CI before anything ships.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845392-4AF4-B222-E6F4-09E012FBA8F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FE7855F3-B6E0-A423-5F96-A9721CEFEAA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10F1C92D-01BC-69A8-1FB3-41BBF4B64AE5}"/>
              </a:ext>
            </a:extLst>
          </p:cNvPr>
          <p:cNvSpPr>
            <a:spLocks noGrp="1"/>
          </p:cNvSpPr>
          <p:nvPr>
            <p:ph type="dt" sz="half" idx="10"/>
          </p:nvPr>
        </p:nvSpPr>
        <p:spPr/>
        <p:txBody>
          <a:bodyPr/>
          <a:lstStyle/>
          <a:p>
            <a:fld id="{BD835E71-2212-4FEA-BE8F-2F4D357B223E}" type="datetimeFigureOut">
              <a:rPr lang="en-IN" smtClean="0"/>
              <a:t>09-06-2026</a:t>
            </a:fld>
            <a:endParaRPr lang="en-IN"/>
          </a:p>
        </p:txBody>
      </p:sp>
      <p:sp>
        <p:nvSpPr>
          <p:cNvPr id="5" name="Footer Placeholder 4">
            <a:extLst>
              <a:ext uri="{FF2B5EF4-FFF2-40B4-BE49-F238E27FC236}">
                <a16:creationId xmlns:a16="http://schemas.microsoft.com/office/drawing/2014/main" id="{32ECAD9F-5312-D053-C02F-9A3ADC31D71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015DE77-03B4-E01E-D01B-48A3846A5A23}"/>
              </a:ext>
            </a:extLst>
          </p:cNvPr>
          <p:cNvSpPr>
            <a:spLocks noGrp="1"/>
          </p:cNvSpPr>
          <p:nvPr>
            <p:ph type="sldNum" sz="quarter" idx="12"/>
          </p:nvPr>
        </p:nvSpPr>
        <p:spPr/>
        <p:txBody>
          <a:bodyPr/>
          <a:lstStyle/>
          <a:p>
            <a:fld id="{A517286A-0854-47BE-AEC8-6C8157BD39BE}" type="slidenum">
              <a:rPr lang="en-IN" smtClean="0"/>
              <a:t>‹#›</a:t>
            </a:fld>
            <a:endParaRPr lang="en-IN"/>
          </a:p>
        </p:txBody>
      </p:sp>
    </p:spTree>
    <p:extLst>
      <p:ext uri="{BB962C8B-B14F-4D97-AF65-F5344CB8AC3E}">
        <p14:creationId xmlns:p14="http://schemas.microsoft.com/office/powerpoint/2010/main" val="1149631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C5861-57CF-2EFF-8CB6-40DE9FB08EC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4A52C341-F44A-2AA0-F6BC-5BF2D085D11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174D0E5-6793-BA22-3199-42672E02E9CF}"/>
              </a:ext>
            </a:extLst>
          </p:cNvPr>
          <p:cNvSpPr>
            <a:spLocks noGrp="1"/>
          </p:cNvSpPr>
          <p:nvPr>
            <p:ph type="dt" sz="half" idx="10"/>
          </p:nvPr>
        </p:nvSpPr>
        <p:spPr/>
        <p:txBody>
          <a:bodyPr/>
          <a:lstStyle/>
          <a:p>
            <a:fld id="{BD835E71-2212-4FEA-BE8F-2F4D357B223E}" type="datetimeFigureOut">
              <a:rPr lang="en-IN" smtClean="0"/>
              <a:t>09-06-2026</a:t>
            </a:fld>
            <a:endParaRPr lang="en-IN"/>
          </a:p>
        </p:txBody>
      </p:sp>
      <p:sp>
        <p:nvSpPr>
          <p:cNvPr id="5" name="Footer Placeholder 4">
            <a:extLst>
              <a:ext uri="{FF2B5EF4-FFF2-40B4-BE49-F238E27FC236}">
                <a16:creationId xmlns:a16="http://schemas.microsoft.com/office/drawing/2014/main" id="{97889AAD-FC91-5418-95EC-0FDA3CEAD93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3AD3FBB-8222-B4F8-B51B-79EDC6CBF6AE}"/>
              </a:ext>
            </a:extLst>
          </p:cNvPr>
          <p:cNvSpPr>
            <a:spLocks noGrp="1"/>
          </p:cNvSpPr>
          <p:nvPr>
            <p:ph type="sldNum" sz="quarter" idx="12"/>
          </p:nvPr>
        </p:nvSpPr>
        <p:spPr/>
        <p:txBody>
          <a:bodyPr/>
          <a:lstStyle/>
          <a:p>
            <a:fld id="{A517286A-0854-47BE-AEC8-6C8157BD39BE}" type="slidenum">
              <a:rPr lang="en-IN" smtClean="0"/>
              <a:t>‹#›</a:t>
            </a:fld>
            <a:endParaRPr lang="en-IN"/>
          </a:p>
        </p:txBody>
      </p:sp>
    </p:spTree>
    <p:extLst>
      <p:ext uri="{BB962C8B-B14F-4D97-AF65-F5344CB8AC3E}">
        <p14:creationId xmlns:p14="http://schemas.microsoft.com/office/powerpoint/2010/main" val="5292169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471E99-83EC-1E92-4EE5-0CD94979966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E72EF56C-6060-D758-0392-D16BD66E8F1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6F4B32B-8524-56DC-E383-3BE74365E99A}"/>
              </a:ext>
            </a:extLst>
          </p:cNvPr>
          <p:cNvSpPr>
            <a:spLocks noGrp="1"/>
          </p:cNvSpPr>
          <p:nvPr>
            <p:ph type="dt" sz="half" idx="10"/>
          </p:nvPr>
        </p:nvSpPr>
        <p:spPr/>
        <p:txBody>
          <a:bodyPr/>
          <a:lstStyle/>
          <a:p>
            <a:fld id="{BD835E71-2212-4FEA-BE8F-2F4D357B223E}" type="datetimeFigureOut">
              <a:rPr lang="en-IN" smtClean="0"/>
              <a:t>09-06-2026</a:t>
            </a:fld>
            <a:endParaRPr lang="en-IN"/>
          </a:p>
        </p:txBody>
      </p:sp>
      <p:sp>
        <p:nvSpPr>
          <p:cNvPr id="5" name="Footer Placeholder 4">
            <a:extLst>
              <a:ext uri="{FF2B5EF4-FFF2-40B4-BE49-F238E27FC236}">
                <a16:creationId xmlns:a16="http://schemas.microsoft.com/office/drawing/2014/main" id="{D561E89F-FD93-F97F-750C-F25A71AC9E3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D8F20F0-B268-0D9F-3611-97CCB1448C3F}"/>
              </a:ext>
            </a:extLst>
          </p:cNvPr>
          <p:cNvSpPr>
            <a:spLocks noGrp="1"/>
          </p:cNvSpPr>
          <p:nvPr>
            <p:ph type="sldNum" sz="quarter" idx="12"/>
          </p:nvPr>
        </p:nvSpPr>
        <p:spPr/>
        <p:txBody>
          <a:bodyPr/>
          <a:lstStyle/>
          <a:p>
            <a:fld id="{A517286A-0854-47BE-AEC8-6C8157BD39BE}" type="slidenum">
              <a:rPr lang="en-IN" smtClean="0"/>
              <a:t>‹#›</a:t>
            </a:fld>
            <a:endParaRPr lang="en-IN"/>
          </a:p>
        </p:txBody>
      </p:sp>
    </p:spTree>
    <p:extLst>
      <p:ext uri="{BB962C8B-B14F-4D97-AF65-F5344CB8AC3E}">
        <p14:creationId xmlns:p14="http://schemas.microsoft.com/office/powerpoint/2010/main" val="11845132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726104-EB8E-905C-25BF-7E6E2B020500}"/>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00D9ECFE-E8A1-4D6B-4FAA-6B5CA0A26A5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93D43AEF-1B94-0721-7D2E-6B53F9A1A38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6669D85A-90BE-4B76-D852-F2EFF699742C}"/>
              </a:ext>
            </a:extLst>
          </p:cNvPr>
          <p:cNvSpPr>
            <a:spLocks noGrp="1"/>
          </p:cNvSpPr>
          <p:nvPr>
            <p:ph type="dt" sz="half" idx="10"/>
          </p:nvPr>
        </p:nvSpPr>
        <p:spPr/>
        <p:txBody>
          <a:bodyPr/>
          <a:lstStyle/>
          <a:p>
            <a:fld id="{BD835E71-2212-4FEA-BE8F-2F4D357B223E}" type="datetimeFigureOut">
              <a:rPr lang="en-IN" smtClean="0"/>
              <a:t>09-06-2026</a:t>
            </a:fld>
            <a:endParaRPr lang="en-IN"/>
          </a:p>
        </p:txBody>
      </p:sp>
      <p:sp>
        <p:nvSpPr>
          <p:cNvPr id="6" name="Footer Placeholder 5">
            <a:extLst>
              <a:ext uri="{FF2B5EF4-FFF2-40B4-BE49-F238E27FC236}">
                <a16:creationId xmlns:a16="http://schemas.microsoft.com/office/drawing/2014/main" id="{21B9C98E-7309-F89E-8211-AA342326252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0EEBFFBA-1607-C7C2-0BCA-D3F2FBF4DF8E}"/>
              </a:ext>
            </a:extLst>
          </p:cNvPr>
          <p:cNvSpPr>
            <a:spLocks noGrp="1"/>
          </p:cNvSpPr>
          <p:nvPr>
            <p:ph type="sldNum" sz="quarter" idx="12"/>
          </p:nvPr>
        </p:nvSpPr>
        <p:spPr/>
        <p:txBody>
          <a:bodyPr/>
          <a:lstStyle/>
          <a:p>
            <a:fld id="{A517286A-0854-47BE-AEC8-6C8157BD39BE}" type="slidenum">
              <a:rPr lang="en-IN" smtClean="0"/>
              <a:t>‹#›</a:t>
            </a:fld>
            <a:endParaRPr lang="en-IN"/>
          </a:p>
        </p:txBody>
      </p:sp>
    </p:spTree>
    <p:extLst>
      <p:ext uri="{BB962C8B-B14F-4D97-AF65-F5344CB8AC3E}">
        <p14:creationId xmlns:p14="http://schemas.microsoft.com/office/powerpoint/2010/main" val="36613687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C4F0FC-58BB-1A99-94A1-375AC67E954A}"/>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D7F9B40-1D41-B5AA-83FC-1DCD7616C9E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677B1AA-28F5-AD9B-AACD-51F7C8E7D24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D5757B81-96F7-2831-CAB9-525C5584B24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D4F43D8-EA4F-BCD8-6153-381805963C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99BD20B9-FA05-6BB0-8A72-790E0B8B79C0}"/>
              </a:ext>
            </a:extLst>
          </p:cNvPr>
          <p:cNvSpPr>
            <a:spLocks noGrp="1"/>
          </p:cNvSpPr>
          <p:nvPr>
            <p:ph type="dt" sz="half" idx="10"/>
          </p:nvPr>
        </p:nvSpPr>
        <p:spPr/>
        <p:txBody>
          <a:bodyPr/>
          <a:lstStyle/>
          <a:p>
            <a:fld id="{BD835E71-2212-4FEA-BE8F-2F4D357B223E}" type="datetimeFigureOut">
              <a:rPr lang="en-IN" smtClean="0"/>
              <a:t>09-06-2026</a:t>
            </a:fld>
            <a:endParaRPr lang="en-IN"/>
          </a:p>
        </p:txBody>
      </p:sp>
      <p:sp>
        <p:nvSpPr>
          <p:cNvPr id="8" name="Footer Placeholder 7">
            <a:extLst>
              <a:ext uri="{FF2B5EF4-FFF2-40B4-BE49-F238E27FC236}">
                <a16:creationId xmlns:a16="http://schemas.microsoft.com/office/drawing/2014/main" id="{6B135708-F1DC-5AB1-D9F4-FD33F2F9701E}"/>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ABE88EE2-EA14-21A2-6C38-A66DB0F24EA2}"/>
              </a:ext>
            </a:extLst>
          </p:cNvPr>
          <p:cNvSpPr>
            <a:spLocks noGrp="1"/>
          </p:cNvSpPr>
          <p:nvPr>
            <p:ph type="sldNum" sz="quarter" idx="12"/>
          </p:nvPr>
        </p:nvSpPr>
        <p:spPr/>
        <p:txBody>
          <a:bodyPr/>
          <a:lstStyle/>
          <a:p>
            <a:fld id="{A517286A-0854-47BE-AEC8-6C8157BD39BE}" type="slidenum">
              <a:rPr lang="en-IN" smtClean="0"/>
              <a:t>‹#›</a:t>
            </a:fld>
            <a:endParaRPr lang="en-IN"/>
          </a:p>
        </p:txBody>
      </p:sp>
    </p:spTree>
    <p:extLst>
      <p:ext uri="{BB962C8B-B14F-4D97-AF65-F5344CB8AC3E}">
        <p14:creationId xmlns:p14="http://schemas.microsoft.com/office/powerpoint/2010/main" val="1173550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6BD2A-FCC8-04E8-7572-5F111375BFF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DF299E6E-614D-879A-54F5-97C2B8C4D90D}"/>
              </a:ext>
            </a:extLst>
          </p:cNvPr>
          <p:cNvSpPr>
            <a:spLocks noGrp="1"/>
          </p:cNvSpPr>
          <p:nvPr>
            <p:ph type="dt" sz="half" idx="10"/>
          </p:nvPr>
        </p:nvSpPr>
        <p:spPr/>
        <p:txBody>
          <a:bodyPr/>
          <a:lstStyle/>
          <a:p>
            <a:fld id="{BD835E71-2212-4FEA-BE8F-2F4D357B223E}" type="datetimeFigureOut">
              <a:rPr lang="en-IN" smtClean="0"/>
              <a:t>09-06-2026</a:t>
            </a:fld>
            <a:endParaRPr lang="en-IN"/>
          </a:p>
        </p:txBody>
      </p:sp>
      <p:sp>
        <p:nvSpPr>
          <p:cNvPr id="4" name="Footer Placeholder 3">
            <a:extLst>
              <a:ext uri="{FF2B5EF4-FFF2-40B4-BE49-F238E27FC236}">
                <a16:creationId xmlns:a16="http://schemas.microsoft.com/office/drawing/2014/main" id="{79DE4A04-EE77-4319-ADDA-4A1CE61D7438}"/>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B46A849D-AC12-EA01-F624-D762D550170E}"/>
              </a:ext>
            </a:extLst>
          </p:cNvPr>
          <p:cNvSpPr>
            <a:spLocks noGrp="1"/>
          </p:cNvSpPr>
          <p:nvPr>
            <p:ph type="sldNum" sz="quarter" idx="12"/>
          </p:nvPr>
        </p:nvSpPr>
        <p:spPr/>
        <p:txBody>
          <a:bodyPr/>
          <a:lstStyle/>
          <a:p>
            <a:fld id="{A517286A-0854-47BE-AEC8-6C8157BD39BE}" type="slidenum">
              <a:rPr lang="en-IN" smtClean="0"/>
              <a:t>‹#›</a:t>
            </a:fld>
            <a:endParaRPr lang="en-IN"/>
          </a:p>
        </p:txBody>
      </p:sp>
    </p:spTree>
    <p:extLst>
      <p:ext uri="{BB962C8B-B14F-4D97-AF65-F5344CB8AC3E}">
        <p14:creationId xmlns:p14="http://schemas.microsoft.com/office/powerpoint/2010/main" val="29367668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61C6932-92B5-5A87-F0B9-A83208884B9D}"/>
              </a:ext>
            </a:extLst>
          </p:cNvPr>
          <p:cNvSpPr>
            <a:spLocks noGrp="1"/>
          </p:cNvSpPr>
          <p:nvPr>
            <p:ph type="dt" sz="half" idx="10"/>
          </p:nvPr>
        </p:nvSpPr>
        <p:spPr/>
        <p:txBody>
          <a:bodyPr/>
          <a:lstStyle/>
          <a:p>
            <a:fld id="{BD835E71-2212-4FEA-BE8F-2F4D357B223E}" type="datetimeFigureOut">
              <a:rPr lang="en-IN" smtClean="0"/>
              <a:t>09-06-2026</a:t>
            </a:fld>
            <a:endParaRPr lang="en-IN"/>
          </a:p>
        </p:txBody>
      </p:sp>
      <p:sp>
        <p:nvSpPr>
          <p:cNvPr id="3" name="Footer Placeholder 2">
            <a:extLst>
              <a:ext uri="{FF2B5EF4-FFF2-40B4-BE49-F238E27FC236}">
                <a16:creationId xmlns:a16="http://schemas.microsoft.com/office/drawing/2014/main" id="{886341DD-7E19-C3F4-9196-7EBDF4D3A096}"/>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8DE905E4-8B6E-3C53-B706-F92A5CA3414F}"/>
              </a:ext>
            </a:extLst>
          </p:cNvPr>
          <p:cNvSpPr>
            <a:spLocks noGrp="1"/>
          </p:cNvSpPr>
          <p:nvPr>
            <p:ph type="sldNum" sz="quarter" idx="12"/>
          </p:nvPr>
        </p:nvSpPr>
        <p:spPr/>
        <p:txBody>
          <a:bodyPr/>
          <a:lstStyle/>
          <a:p>
            <a:fld id="{A517286A-0854-47BE-AEC8-6C8157BD39BE}" type="slidenum">
              <a:rPr lang="en-IN" smtClean="0"/>
              <a:t>‹#›</a:t>
            </a:fld>
            <a:endParaRPr lang="en-IN"/>
          </a:p>
        </p:txBody>
      </p:sp>
    </p:spTree>
    <p:extLst>
      <p:ext uri="{BB962C8B-B14F-4D97-AF65-F5344CB8AC3E}">
        <p14:creationId xmlns:p14="http://schemas.microsoft.com/office/powerpoint/2010/main" val="19867224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F93467-2BDC-A650-461D-67F0768A5AA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3A076F8D-0620-B261-1711-B1019A554C5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5DBC9378-B831-D402-3A2C-598295199BC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3CCFB0B-7752-ECD1-66F1-D0B81232C3E0}"/>
              </a:ext>
            </a:extLst>
          </p:cNvPr>
          <p:cNvSpPr>
            <a:spLocks noGrp="1"/>
          </p:cNvSpPr>
          <p:nvPr>
            <p:ph type="dt" sz="half" idx="10"/>
          </p:nvPr>
        </p:nvSpPr>
        <p:spPr/>
        <p:txBody>
          <a:bodyPr/>
          <a:lstStyle/>
          <a:p>
            <a:fld id="{BD835E71-2212-4FEA-BE8F-2F4D357B223E}" type="datetimeFigureOut">
              <a:rPr lang="en-IN" smtClean="0"/>
              <a:t>09-06-2026</a:t>
            </a:fld>
            <a:endParaRPr lang="en-IN"/>
          </a:p>
        </p:txBody>
      </p:sp>
      <p:sp>
        <p:nvSpPr>
          <p:cNvPr id="6" name="Footer Placeholder 5">
            <a:extLst>
              <a:ext uri="{FF2B5EF4-FFF2-40B4-BE49-F238E27FC236}">
                <a16:creationId xmlns:a16="http://schemas.microsoft.com/office/drawing/2014/main" id="{FE8AE0FC-FDCF-61AE-5A34-79DD27701A1E}"/>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614D352-4394-B0F1-1A2E-CA414A94650B}"/>
              </a:ext>
            </a:extLst>
          </p:cNvPr>
          <p:cNvSpPr>
            <a:spLocks noGrp="1"/>
          </p:cNvSpPr>
          <p:nvPr>
            <p:ph type="sldNum" sz="quarter" idx="12"/>
          </p:nvPr>
        </p:nvSpPr>
        <p:spPr/>
        <p:txBody>
          <a:bodyPr/>
          <a:lstStyle/>
          <a:p>
            <a:fld id="{A517286A-0854-47BE-AEC8-6C8157BD39BE}" type="slidenum">
              <a:rPr lang="en-IN" smtClean="0"/>
              <a:t>‹#›</a:t>
            </a:fld>
            <a:endParaRPr lang="en-IN"/>
          </a:p>
        </p:txBody>
      </p:sp>
    </p:spTree>
    <p:extLst>
      <p:ext uri="{BB962C8B-B14F-4D97-AF65-F5344CB8AC3E}">
        <p14:creationId xmlns:p14="http://schemas.microsoft.com/office/powerpoint/2010/main" val="40164572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42545-A1C7-40EC-3FE1-C82720D8596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C0DFF387-B532-CC3D-5C9E-9F36D51F122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CF5036FD-2768-E32C-A90C-C8D658ADFB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DB77819-76DF-AF3B-B770-457ABD279671}"/>
              </a:ext>
            </a:extLst>
          </p:cNvPr>
          <p:cNvSpPr>
            <a:spLocks noGrp="1"/>
          </p:cNvSpPr>
          <p:nvPr>
            <p:ph type="dt" sz="half" idx="10"/>
          </p:nvPr>
        </p:nvSpPr>
        <p:spPr/>
        <p:txBody>
          <a:bodyPr/>
          <a:lstStyle/>
          <a:p>
            <a:fld id="{BD835E71-2212-4FEA-BE8F-2F4D357B223E}" type="datetimeFigureOut">
              <a:rPr lang="en-IN" smtClean="0"/>
              <a:t>09-06-2026</a:t>
            </a:fld>
            <a:endParaRPr lang="en-IN"/>
          </a:p>
        </p:txBody>
      </p:sp>
      <p:sp>
        <p:nvSpPr>
          <p:cNvPr id="6" name="Footer Placeholder 5">
            <a:extLst>
              <a:ext uri="{FF2B5EF4-FFF2-40B4-BE49-F238E27FC236}">
                <a16:creationId xmlns:a16="http://schemas.microsoft.com/office/drawing/2014/main" id="{88DFBBFE-A436-F436-7835-B1297E714A3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26A678A-3EC8-EDD4-2C75-21EEFFE04E34}"/>
              </a:ext>
            </a:extLst>
          </p:cNvPr>
          <p:cNvSpPr>
            <a:spLocks noGrp="1"/>
          </p:cNvSpPr>
          <p:nvPr>
            <p:ph type="sldNum" sz="quarter" idx="12"/>
          </p:nvPr>
        </p:nvSpPr>
        <p:spPr/>
        <p:txBody>
          <a:bodyPr/>
          <a:lstStyle/>
          <a:p>
            <a:fld id="{A517286A-0854-47BE-AEC8-6C8157BD39BE}" type="slidenum">
              <a:rPr lang="en-IN" smtClean="0"/>
              <a:t>‹#›</a:t>
            </a:fld>
            <a:endParaRPr lang="en-IN"/>
          </a:p>
        </p:txBody>
      </p:sp>
    </p:spTree>
    <p:extLst>
      <p:ext uri="{BB962C8B-B14F-4D97-AF65-F5344CB8AC3E}">
        <p14:creationId xmlns:p14="http://schemas.microsoft.com/office/powerpoint/2010/main" val="12684833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7AFD0F-DF23-8E05-B9E4-42345B503518}"/>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44B258FA-533D-932C-CBD8-5BFA430B8E4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550154B-43CC-40BA-5ACB-1E9CA2A5BEAE}"/>
              </a:ext>
            </a:extLst>
          </p:cNvPr>
          <p:cNvSpPr>
            <a:spLocks noGrp="1"/>
          </p:cNvSpPr>
          <p:nvPr>
            <p:ph type="dt" sz="half" idx="10"/>
          </p:nvPr>
        </p:nvSpPr>
        <p:spPr/>
        <p:txBody>
          <a:bodyPr/>
          <a:lstStyle/>
          <a:p>
            <a:fld id="{BD835E71-2212-4FEA-BE8F-2F4D357B223E}" type="datetimeFigureOut">
              <a:rPr lang="en-IN" smtClean="0"/>
              <a:t>09-06-2026</a:t>
            </a:fld>
            <a:endParaRPr lang="en-IN"/>
          </a:p>
        </p:txBody>
      </p:sp>
      <p:sp>
        <p:nvSpPr>
          <p:cNvPr id="5" name="Footer Placeholder 4">
            <a:extLst>
              <a:ext uri="{FF2B5EF4-FFF2-40B4-BE49-F238E27FC236}">
                <a16:creationId xmlns:a16="http://schemas.microsoft.com/office/drawing/2014/main" id="{2451AD53-D446-90D5-5D5F-7A766B92DF0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A78D4A4-D325-187E-482F-2F700A939A66}"/>
              </a:ext>
            </a:extLst>
          </p:cNvPr>
          <p:cNvSpPr>
            <a:spLocks noGrp="1"/>
          </p:cNvSpPr>
          <p:nvPr>
            <p:ph type="sldNum" sz="quarter" idx="12"/>
          </p:nvPr>
        </p:nvSpPr>
        <p:spPr/>
        <p:txBody>
          <a:bodyPr/>
          <a:lstStyle/>
          <a:p>
            <a:fld id="{A517286A-0854-47BE-AEC8-6C8157BD39BE}" type="slidenum">
              <a:rPr lang="en-IN" smtClean="0"/>
              <a:t>‹#›</a:t>
            </a:fld>
            <a:endParaRPr lang="en-IN"/>
          </a:p>
        </p:txBody>
      </p:sp>
    </p:spTree>
    <p:extLst>
      <p:ext uri="{BB962C8B-B14F-4D97-AF65-F5344CB8AC3E}">
        <p14:creationId xmlns:p14="http://schemas.microsoft.com/office/powerpoint/2010/main" val="20305660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9302B07-1D6D-E6AE-5016-4FA083E9DCA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F06717D-AE46-AE5E-2BCB-87BDD177B02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4D58040-5D6A-0DAA-F0FA-07ADB0F03591}"/>
              </a:ext>
            </a:extLst>
          </p:cNvPr>
          <p:cNvSpPr>
            <a:spLocks noGrp="1"/>
          </p:cNvSpPr>
          <p:nvPr>
            <p:ph type="dt" sz="half" idx="10"/>
          </p:nvPr>
        </p:nvSpPr>
        <p:spPr/>
        <p:txBody>
          <a:bodyPr/>
          <a:lstStyle/>
          <a:p>
            <a:fld id="{BD835E71-2212-4FEA-BE8F-2F4D357B223E}" type="datetimeFigureOut">
              <a:rPr lang="en-IN" smtClean="0"/>
              <a:t>09-06-2026</a:t>
            </a:fld>
            <a:endParaRPr lang="en-IN"/>
          </a:p>
        </p:txBody>
      </p:sp>
      <p:sp>
        <p:nvSpPr>
          <p:cNvPr id="5" name="Footer Placeholder 4">
            <a:extLst>
              <a:ext uri="{FF2B5EF4-FFF2-40B4-BE49-F238E27FC236}">
                <a16:creationId xmlns:a16="http://schemas.microsoft.com/office/drawing/2014/main" id="{6960A5A3-629D-22AC-8490-D0E0185F26A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FBEA014-8F1B-08F5-0BB6-1938413FC2EC}"/>
              </a:ext>
            </a:extLst>
          </p:cNvPr>
          <p:cNvSpPr>
            <a:spLocks noGrp="1"/>
          </p:cNvSpPr>
          <p:nvPr>
            <p:ph type="sldNum" sz="quarter" idx="12"/>
          </p:nvPr>
        </p:nvSpPr>
        <p:spPr/>
        <p:txBody>
          <a:bodyPr/>
          <a:lstStyle/>
          <a:p>
            <a:fld id="{A517286A-0854-47BE-AEC8-6C8157BD39BE}" type="slidenum">
              <a:rPr lang="en-IN" smtClean="0"/>
              <a:t>‹#›</a:t>
            </a:fld>
            <a:endParaRPr lang="en-IN"/>
          </a:p>
        </p:txBody>
      </p:sp>
    </p:spTree>
    <p:extLst>
      <p:ext uri="{BB962C8B-B14F-4D97-AF65-F5344CB8AC3E}">
        <p14:creationId xmlns:p14="http://schemas.microsoft.com/office/powerpoint/2010/main" val="18809913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ver Slide 1">
    <p:spTree>
      <p:nvGrpSpPr>
        <p:cNvPr id="1" name=""/>
        <p:cNvGrpSpPr/>
        <p:nvPr/>
      </p:nvGrpSpPr>
      <p:grpSpPr>
        <a:xfrm>
          <a:off x="0" y="0"/>
          <a:ext cx="0" cy="0"/>
          <a:chOff x="0" y="0"/>
          <a:chExt cx="0" cy="0"/>
        </a:xfrm>
      </p:grpSpPr>
      <p:grpSp>
        <p:nvGrpSpPr>
          <p:cNvPr id="37" name="object 2">
            <a:extLst>
              <a:ext uri="{FF2B5EF4-FFF2-40B4-BE49-F238E27FC236}">
                <a16:creationId xmlns:a16="http://schemas.microsoft.com/office/drawing/2014/main" id="{DF2FE585-DEB2-9385-A233-004B9D7FC0B3}"/>
              </a:ext>
            </a:extLst>
          </p:cNvPr>
          <p:cNvGrpSpPr/>
          <p:nvPr/>
        </p:nvGrpSpPr>
        <p:grpSpPr>
          <a:xfrm>
            <a:off x="0" y="0"/>
            <a:ext cx="12191999" cy="6858000"/>
            <a:chOff x="0" y="0"/>
            <a:chExt cx="20104099" cy="11308556"/>
          </a:xfrm>
        </p:grpSpPr>
        <p:pic>
          <p:nvPicPr>
            <p:cNvPr id="39" name="object 3">
              <a:extLst>
                <a:ext uri="{FF2B5EF4-FFF2-40B4-BE49-F238E27FC236}">
                  <a16:creationId xmlns:a16="http://schemas.microsoft.com/office/drawing/2014/main" id="{5C931129-D884-3125-BA58-033EC34B811E}"/>
                </a:ext>
              </a:extLst>
            </p:cNvPr>
            <p:cNvPicPr/>
            <p:nvPr/>
          </p:nvPicPr>
          <p:blipFill>
            <a:blip r:embed="rId2" cstate="screen">
              <a:extLst>
                <a:ext uri="{28A0092B-C50C-407E-A947-70E740481C1C}">
                  <a14:useLocalDpi xmlns:a14="http://schemas.microsoft.com/office/drawing/2010/main"/>
                </a:ext>
              </a:extLst>
            </a:blip>
            <a:stretch>
              <a:fillRect/>
            </a:stretch>
          </p:blipFill>
          <p:spPr>
            <a:xfrm>
              <a:off x="0" y="0"/>
              <a:ext cx="20104099" cy="11308556"/>
            </a:xfrm>
            <a:prstGeom prst="rect">
              <a:avLst/>
            </a:prstGeom>
          </p:spPr>
        </p:pic>
        <p:pic>
          <p:nvPicPr>
            <p:cNvPr id="41" name="object 5">
              <a:extLst>
                <a:ext uri="{FF2B5EF4-FFF2-40B4-BE49-F238E27FC236}">
                  <a16:creationId xmlns:a16="http://schemas.microsoft.com/office/drawing/2014/main" id="{38B18016-7766-3B76-F702-BCA8FBC8BF14}"/>
                </a:ext>
              </a:extLst>
            </p:cNvPr>
            <p:cNvPicPr/>
            <p:nvPr/>
          </p:nvPicPr>
          <p:blipFill>
            <a:blip r:embed="rId3" cstate="screen">
              <a:extLst>
                <a:ext uri="{28A0092B-C50C-407E-A947-70E740481C1C}">
                  <a14:useLocalDpi xmlns:a14="http://schemas.microsoft.com/office/drawing/2010/main"/>
                </a:ext>
              </a:extLst>
            </a:blip>
            <a:stretch>
              <a:fillRect/>
            </a:stretch>
          </p:blipFill>
          <p:spPr>
            <a:xfrm>
              <a:off x="999322" y="831967"/>
              <a:ext cx="6592804" cy="732510"/>
            </a:xfrm>
            <a:prstGeom prst="rect">
              <a:avLst/>
            </a:prstGeom>
          </p:spPr>
        </p:pic>
      </p:grpSp>
      <p:pic>
        <p:nvPicPr>
          <p:cNvPr id="38" name="object 9">
            <a:extLst>
              <a:ext uri="{FF2B5EF4-FFF2-40B4-BE49-F238E27FC236}">
                <a16:creationId xmlns:a16="http://schemas.microsoft.com/office/drawing/2014/main" id="{96F89763-5FAC-F534-07B2-89D560CF33DD}"/>
              </a:ext>
            </a:extLst>
          </p:cNvPr>
          <p:cNvPicPr/>
          <p:nvPr userDrawn="1"/>
        </p:nvPicPr>
        <p:blipFill>
          <a:blip r:embed="rId4" cstate="print"/>
          <a:stretch>
            <a:fillRect/>
          </a:stretch>
        </p:blipFill>
        <p:spPr>
          <a:xfrm>
            <a:off x="4348861" y="0"/>
            <a:ext cx="7843139" cy="6828364"/>
          </a:xfrm>
          <a:prstGeom prst="rect">
            <a:avLst/>
          </a:prstGeom>
        </p:spPr>
      </p:pic>
      <p:sp>
        <p:nvSpPr>
          <p:cNvPr id="29" name="Text Placeholder 12">
            <a:extLst>
              <a:ext uri="{FF2B5EF4-FFF2-40B4-BE49-F238E27FC236}">
                <a16:creationId xmlns:a16="http://schemas.microsoft.com/office/drawing/2014/main" id="{AE8F102E-DC00-DBE1-F4B3-1BD3932464CF}"/>
              </a:ext>
            </a:extLst>
          </p:cNvPr>
          <p:cNvSpPr>
            <a:spLocks noGrp="1"/>
          </p:cNvSpPr>
          <p:nvPr>
            <p:ph type="body" sz="quarter" idx="11"/>
          </p:nvPr>
        </p:nvSpPr>
        <p:spPr>
          <a:xfrm>
            <a:off x="609600" y="2196502"/>
            <a:ext cx="6578600" cy="1412875"/>
          </a:xfrm>
          <a:prstGeom prst="rect">
            <a:avLst/>
          </a:prstGeom>
        </p:spPr>
        <p:txBody>
          <a:bodyPr lIns="0" anchor="b">
            <a:noAutofit/>
          </a:bodyPr>
          <a:lstStyle>
            <a:lvl1pPr marL="0" indent="0">
              <a:lnSpc>
                <a:spcPct val="100000"/>
              </a:lnSpc>
              <a:spcBef>
                <a:spcPts val="0"/>
              </a:spcBef>
              <a:buNone/>
              <a:defRPr sz="4800" b="1">
                <a:solidFill>
                  <a:schemeClr val="bg1"/>
                </a:solidFill>
                <a:latin typeface="HCLTech Roobert" pitchFamily="50" charset="0"/>
                <a:cs typeface="HCLTech Roobert" pitchFamily="50"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a:t>Click to edit Master text styles</a:t>
            </a:r>
          </a:p>
        </p:txBody>
      </p:sp>
      <p:sp>
        <p:nvSpPr>
          <p:cNvPr id="30" name="Text Placeholder 12">
            <a:extLst>
              <a:ext uri="{FF2B5EF4-FFF2-40B4-BE49-F238E27FC236}">
                <a16:creationId xmlns:a16="http://schemas.microsoft.com/office/drawing/2014/main" id="{09BE1CC7-79AA-A1F6-65FF-9B022A7ECAE4}"/>
              </a:ext>
            </a:extLst>
          </p:cNvPr>
          <p:cNvSpPr>
            <a:spLocks noGrp="1"/>
          </p:cNvSpPr>
          <p:nvPr>
            <p:ph type="body" sz="quarter" idx="12"/>
          </p:nvPr>
        </p:nvSpPr>
        <p:spPr>
          <a:xfrm>
            <a:off x="609600" y="3748640"/>
            <a:ext cx="6578600" cy="633304"/>
          </a:xfrm>
          <a:prstGeom prst="rect">
            <a:avLst/>
          </a:prstGeom>
        </p:spPr>
        <p:txBody>
          <a:bodyPr lIns="0" anchor="ctr">
            <a:noAutofit/>
          </a:bodyPr>
          <a:lstStyle>
            <a:lvl1pPr marL="0" indent="0">
              <a:lnSpc>
                <a:spcPct val="100000"/>
              </a:lnSpc>
              <a:spcBef>
                <a:spcPts val="0"/>
              </a:spcBef>
              <a:buNone/>
              <a:defRPr sz="3000" b="0">
                <a:solidFill>
                  <a:schemeClr val="bg1"/>
                </a:solidFill>
                <a:latin typeface="HCLTech Roobert" pitchFamily="50" charset="0"/>
                <a:cs typeface="HCLTech Roobert" pitchFamily="50"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a:t>Click to edit Master text styles</a:t>
            </a:r>
          </a:p>
        </p:txBody>
      </p:sp>
      <p:sp>
        <p:nvSpPr>
          <p:cNvPr id="31" name="Text Placeholder 12">
            <a:extLst>
              <a:ext uri="{FF2B5EF4-FFF2-40B4-BE49-F238E27FC236}">
                <a16:creationId xmlns:a16="http://schemas.microsoft.com/office/drawing/2014/main" id="{B9E6DC15-6519-CB80-B41E-4A4D08F559B1}"/>
              </a:ext>
            </a:extLst>
          </p:cNvPr>
          <p:cNvSpPr>
            <a:spLocks noGrp="1"/>
          </p:cNvSpPr>
          <p:nvPr>
            <p:ph type="body" sz="quarter" idx="13"/>
          </p:nvPr>
        </p:nvSpPr>
        <p:spPr>
          <a:xfrm>
            <a:off x="628650" y="4930805"/>
            <a:ext cx="6578600" cy="1000542"/>
          </a:xfrm>
          <a:prstGeom prst="rect">
            <a:avLst/>
          </a:prstGeom>
        </p:spPr>
        <p:txBody>
          <a:bodyPr lIns="0" anchor="b">
            <a:noAutofit/>
          </a:bodyPr>
          <a:lstStyle>
            <a:lvl1pPr marL="0" indent="0">
              <a:lnSpc>
                <a:spcPct val="100000"/>
              </a:lnSpc>
              <a:spcBef>
                <a:spcPts val="0"/>
              </a:spcBef>
              <a:buNone/>
              <a:defRPr sz="1800" b="0">
                <a:solidFill>
                  <a:schemeClr val="bg1"/>
                </a:solidFill>
                <a:latin typeface="HCLTech Roobert" pitchFamily="50" charset="0"/>
                <a:cs typeface="HCLTech Roobert" pitchFamily="50"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a:t>Click to edit Master text styles</a:t>
            </a:r>
          </a:p>
        </p:txBody>
      </p:sp>
    </p:spTree>
    <p:extLst>
      <p:ext uri="{BB962C8B-B14F-4D97-AF65-F5344CB8AC3E}">
        <p14:creationId xmlns:p14="http://schemas.microsoft.com/office/powerpoint/2010/main" val="1563039211"/>
      </p:ext>
    </p:extLst>
  </p:cSld>
  <p:clrMapOvr>
    <a:masterClrMapping/>
  </p:clrMapOvr>
  <p:extLst>
    <p:ext uri="{DCECCB84-F9BA-43D5-87BE-67443E8EF086}">
      <p15:sldGuideLst xmlns:p15="http://schemas.microsoft.com/office/powerpoint/2012/main">
        <p15:guide id="1" orient="horz" pos="2160">
          <p15:clr>
            <a:srgbClr val="FBAE40"/>
          </p15:clr>
        </p15:guide>
        <p15:guide id="2" pos="7296">
          <p15:clr>
            <a:srgbClr val="FBAE40"/>
          </p15:clr>
        </p15:guide>
        <p15:guide id="3" pos="384">
          <p15:clr>
            <a:srgbClr val="FBAE40"/>
          </p15:clr>
        </p15:guide>
        <p15:guide id="4" pos="576">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2_Cover Slide 2">
    <p:spTree>
      <p:nvGrpSpPr>
        <p:cNvPr id="1" name=""/>
        <p:cNvGrpSpPr/>
        <p:nvPr/>
      </p:nvGrpSpPr>
      <p:grpSpPr>
        <a:xfrm>
          <a:off x="0" y="0"/>
          <a:ext cx="0" cy="0"/>
          <a:chOff x="0" y="0"/>
          <a:chExt cx="0" cy="0"/>
        </a:xfrm>
      </p:grpSpPr>
      <p:pic>
        <p:nvPicPr>
          <p:cNvPr id="2" name="Picture Placeholder 7">
            <a:extLst>
              <a:ext uri="{FF2B5EF4-FFF2-40B4-BE49-F238E27FC236}">
                <a16:creationId xmlns:a16="http://schemas.microsoft.com/office/drawing/2014/main" id="{379B5CB1-5DBC-3B2B-FA56-8014B25C794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flipH="1">
            <a:off x="385276" y="170671"/>
            <a:ext cx="3871300" cy="6182698"/>
          </a:xfrm>
          <a:prstGeom prst="roundRect">
            <a:avLst>
              <a:gd name="adj" fmla="val 1457"/>
            </a:avLst>
          </a:prstGeom>
        </p:spPr>
      </p:pic>
      <p:sp>
        <p:nvSpPr>
          <p:cNvPr id="3" name="Rectangle: Rounded Corners 2">
            <a:extLst>
              <a:ext uri="{FF2B5EF4-FFF2-40B4-BE49-F238E27FC236}">
                <a16:creationId xmlns:a16="http://schemas.microsoft.com/office/drawing/2014/main" id="{59B1973D-758E-4746-292C-7E06C4660076}"/>
              </a:ext>
            </a:extLst>
          </p:cNvPr>
          <p:cNvSpPr/>
          <p:nvPr userDrawn="1"/>
        </p:nvSpPr>
        <p:spPr>
          <a:xfrm>
            <a:off x="190500" y="6524625"/>
            <a:ext cx="3009900" cy="247650"/>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2677985"/>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29F8123-C023-BD17-F969-52902FB55C0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19F17698-CFC3-B104-BEF9-6AFA5142018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CF11FD7-2239-1D93-9FA3-C73687349B2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D835E71-2212-4FEA-BE8F-2F4D357B223E}" type="datetimeFigureOut">
              <a:rPr lang="en-IN" smtClean="0"/>
              <a:t>09-06-2026</a:t>
            </a:fld>
            <a:endParaRPr lang="en-IN"/>
          </a:p>
        </p:txBody>
      </p:sp>
      <p:sp>
        <p:nvSpPr>
          <p:cNvPr id="5" name="Footer Placeholder 4">
            <a:extLst>
              <a:ext uri="{FF2B5EF4-FFF2-40B4-BE49-F238E27FC236}">
                <a16:creationId xmlns:a16="http://schemas.microsoft.com/office/drawing/2014/main" id="{8A36483C-48C6-1851-0752-1232B540F98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8D57DB10-9E25-0180-BB57-FDC6B26C177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517286A-0854-47BE-AEC8-6C8157BD39BE}" type="slidenum">
              <a:rPr lang="en-IN" smtClean="0"/>
              <a:t>‹#›</a:t>
            </a:fld>
            <a:endParaRPr lang="en-IN"/>
          </a:p>
        </p:txBody>
      </p:sp>
    </p:spTree>
    <p:extLst>
      <p:ext uri="{BB962C8B-B14F-4D97-AF65-F5344CB8AC3E}">
        <p14:creationId xmlns:p14="http://schemas.microsoft.com/office/powerpoint/2010/main" val="36676884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E890DF3D-6B47-AD79-1AA7-3D8A011FEE85}"/>
              </a:ext>
            </a:extLst>
          </p:cNvPr>
          <p:cNvSpPr>
            <a:spLocks noGrp="1"/>
          </p:cNvSpPr>
          <p:nvPr>
            <p:ph type="body" sz="quarter" idx="11"/>
          </p:nvPr>
        </p:nvSpPr>
        <p:spPr>
          <a:xfrm>
            <a:off x="610503" y="2428297"/>
            <a:ext cx="6541411" cy="965014"/>
          </a:xfrm>
        </p:spPr>
        <p:txBody>
          <a:bodyPr/>
          <a:lstStyle/>
          <a:p>
            <a:pPr marL="0" indent="0">
              <a:buNone/>
            </a:pPr>
            <a:r>
              <a:rPr lang="en-US" sz="3200" dirty="0">
                <a:latin typeface="HCLTech Roobert" panose="020B0504030202060203" pitchFamily="34" charset="0"/>
                <a:cs typeface="HCLTech Roobert" panose="020B0504030202060203" pitchFamily="34" charset="0"/>
              </a:rPr>
              <a:t>Chubb – Project Radical</a:t>
            </a:r>
          </a:p>
          <a:p>
            <a:pPr marL="0" indent="0">
              <a:buNone/>
            </a:pPr>
            <a:r>
              <a:rPr lang="en-US" sz="2000" dirty="0">
                <a:latin typeface="HCLTech Roobert" panose="020B0504030202060203" pitchFamily="34" charset="0"/>
                <a:cs typeface="HCLTech Roobert" panose="020B0504030202060203" pitchFamily="34" charset="0"/>
              </a:rPr>
              <a:t>Take-home Assessment Submission</a:t>
            </a:r>
            <a:endParaRPr lang="en-US" sz="2000" b="1" dirty="0">
              <a:solidFill>
                <a:schemeClr val="bg1"/>
              </a:solidFill>
              <a:latin typeface="HCLTech Roobert" panose="020B0504030202060203" pitchFamily="34" charset="0"/>
              <a:cs typeface="HCLTech Roobert" panose="020B0504030202060203" pitchFamily="34" charset="0"/>
            </a:endParaRPr>
          </a:p>
        </p:txBody>
      </p:sp>
      <p:sp>
        <p:nvSpPr>
          <p:cNvPr id="2" name="Text Placeholder 4">
            <a:extLst>
              <a:ext uri="{FF2B5EF4-FFF2-40B4-BE49-F238E27FC236}">
                <a16:creationId xmlns:a16="http://schemas.microsoft.com/office/drawing/2014/main" id="{897CC6C5-A4C4-E725-82DA-B57DEE310A8B}"/>
              </a:ext>
            </a:extLst>
          </p:cNvPr>
          <p:cNvSpPr txBox="1">
            <a:spLocks/>
          </p:cNvSpPr>
          <p:nvPr/>
        </p:nvSpPr>
        <p:spPr>
          <a:xfrm>
            <a:off x="687087" y="4217377"/>
            <a:ext cx="6057960" cy="965014"/>
          </a:xfrm>
          <a:prstGeom prst="rect">
            <a:avLst/>
          </a:prstGeom>
        </p:spPr>
        <p:txBody>
          <a:bodyPr vert="horz" lIns="0" tIns="45720" rIns="91440" bIns="45720" rtlCol="0" anchor="b">
            <a:noAutofit/>
          </a:bodyPr>
          <a:lstStyle>
            <a:lvl1pPr marL="0" indent="0" algn="l" defTabSz="914400" rtl="0" eaLnBrk="1" latinLnBrk="0" hangingPunct="1">
              <a:lnSpc>
                <a:spcPct val="100000"/>
              </a:lnSpc>
              <a:spcBef>
                <a:spcPts val="0"/>
              </a:spcBef>
              <a:buFont typeface="Arial" panose="020B0604020202020204" pitchFamily="34" charset="0"/>
              <a:buNone/>
              <a:defRPr sz="4800" b="1" kern="1200">
                <a:solidFill>
                  <a:schemeClr val="bg1"/>
                </a:solidFill>
                <a:latin typeface="HCLTech Roobert" pitchFamily="50" charset="0"/>
                <a:ea typeface="+mn-ea"/>
                <a:cs typeface="HCLTech Roobert" pitchFamily="50" charset="0"/>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bg1"/>
                </a:solidFill>
                <a:latin typeface="HCLTech Roobert" pitchFamily="50" charset="0"/>
                <a:ea typeface="+mn-ea"/>
                <a:cs typeface="HCLTech Roobert" pitchFamily="50" charset="0"/>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bg1"/>
                </a:solidFill>
                <a:latin typeface="HCLTech Roobert" pitchFamily="50" charset="0"/>
                <a:ea typeface="+mn-ea"/>
                <a:cs typeface="HCLTech Roobert" pitchFamily="50" charset="0"/>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HCLTech Roobert" pitchFamily="50" charset="0"/>
                <a:ea typeface="+mn-ea"/>
                <a:cs typeface="HCLTech Roobert" pitchFamily="50" charset="0"/>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HCLTech Roobert" pitchFamily="50" charset="0"/>
                <a:ea typeface="+mn-ea"/>
                <a:cs typeface="HCLTech Roobert" pitchFamily="50"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2400" b="0" dirty="0">
              <a:latin typeface="HCLTech Roobert" panose="020B0504030202060203" pitchFamily="34" charset="0"/>
              <a:cs typeface="HCLTech Roobert" panose="020B0504030202060203" pitchFamily="34" charset="0"/>
            </a:endParaRPr>
          </a:p>
          <a:p>
            <a:r>
              <a:rPr lang="en-US" sz="2400" b="0" dirty="0">
                <a:latin typeface="HCLTech Roobert" panose="020B0504030202060203" pitchFamily="34" charset="0"/>
                <a:cs typeface="HCLTech Roobert" panose="020B0504030202060203" pitchFamily="34" charset="0"/>
              </a:rPr>
              <a:t>Policy Overview Dashboard</a:t>
            </a:r>
          </a:p>
          <a:p>
            <a:endParaRPr lang="en-US" sz="2400" b="0" dirty="0">
              <a:latin typeface="HCLTech Roobert" panose="020B0504030202060203" pitchFamily="34" charset="0"/>
              <a:cs typeface="HCLTech Roobert" panose="020B0504030202060203" pitchFamily="34" charset="0"/>
            </a:endParaRPr>
          </a:p>
          <a:p>
            <a:r>
              <a:rPr lang="en-US" sz="2400" b="0" dirty="0">
                <a:latin typeface="HCLTech Roobert" panose="020B0504030202060203" pitchFamily="34" charset="0"/>
                <a:cs typeface="HCLTech Roobert" panose="020B0504030202060203" pitchFamily="34" charset="0"/>
              </a:rPr>
              <a:t>By Ravi G</a:t>
            </a:r>
          </a:p>
        </p:txBody>
      </p:sp>
      <p:sp>
        <p:nvSpPr>
          <p:cNvPr id="3" name="Text Placeholder 4">
            <a:extLst>
              <a:ext uri="{FF2B5EF4-FFF2-40B4-BE49-F238E27FC236}">
                <a16:creationId xmlns:a16="http://schemas.microsoft.com/office/drawing/2014/main" id="{1DF68CBF-8848-D4E7-1B4C-76CDF62C8340}"/>
              </a:ext>
            </a:extLst>
          </p:cNvPr>
          <p:cNvSpPr txBox="1">
            <a:spLocks/>
          </p:cNvSpPr>
          <p:nvPr/>
        </p:nvSpPr>
        <p:spPr>
          <a:xfrm>
            <a:off x="610503" y="4900496"/>
            <a:ext cx="11367231" cy="1412877"/>
          </a:xfrm>
          <a:prstGeom prst="rect">
            <a:avLst/>
          </a:prstGeom>
        </p:spPr>
        <p:txBody>
          <a:bodyPr vert="horz" lIns="0" tIns="45720" rIns="91440" bIns="45720" rtlCol="0" anchor="b">
            <a:noAutofit/>
          </a:bodyPr>
          <a:lstStyle>
            <a:lvl1pPr marL="0" indent="0" algn="l" defTabSz="914400" rtl="0" eaLnBrk="1" latinLnBrk="0" hangingPunct="1">
              <a:lnSpc>
                <a:spcPct val="100000"/>
              </a:lnSpc>
              <a:spcBef>
                <a:spcPts val="0"/>
              </a:spcBef>
              <a:buFont typeface="Arial" panose="020B0604020202020204" pitchFamily="34" charset="0"/>
              <a:buNone/>
              <a:defRPr sz="4800" b="1" kern="1200">
                <a:solidFill>
                  <a:schemeClr val="bg1"/>
                </a:solidFill>
                <a:latin typeface="HCLTech Roobert" pitchFamily="50" charset="0"/>
                <a:ea typeface="+mn-ea"/>
                <a:cs typeface="HCLTech Roobert" pitchFamily="50" charset="0"/>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bg1"/>
                </a:solidFill>
                <a:latin typeface="HCLTech Roobert" pitchFamily="50" charset="0"/>
                <a:ea typeface="+mn-ea"/>
                <a:cs typeface="HCLTech Roobert" pitchFamily="50" charset="0"/>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bg1"/>
                </a:solidFill>
                <a:latin typeface="HCLTech Roobert" pitchFamily="50" charset="0"/>
                <a:ea typeface="+mn-ea"/>
                <a:cs typeface="HCLTech Roobert" pitchFamily="50" charset="0"/>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HCLTech Roobert" pitchFamily="50" charset="0"/>
                <a:ea typeface="+mn-ea"/>
                <a:cs typeface="HCLTech Roobert" pitchFamily="50" charset="0"/>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HCLTech Roobert" pitchFamily="50" charset="0"/>
                <a:ea typeface="+mn-ea"/>
                <a:cs typeface="HCLTech Roobert" pitchFamily="50"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fr-FR" sz="1400" b="0" i="0" u="none" strike="noStrike" kern="1200" cap="none" spc="0" normalizeH="0" baseline="0" noProof="0" dirty="0">
                <a:ln>
                  <a:noFill/>
                </a:ln>
                <a:effectLst/>
                <a:uLnTx/>
                <a:uFillTx/>
                <a:latin typeface="+mn-lt"/>
              </a:rPr>
              <a:t>Jun 10, 2026</a:t>
            </a:r>
          </a:p>
        </p:txBody>
      </p:sp>
    </p:spTree>
    <p:extLst>
      <p:ext uri="{BB962C8B-B14F-4D97-AF65-F5344CB8AC3E}">
        <p14:creationId xmlns:p14="http://schemas.microsoft.com/office/powerpoint/2010/main" val="8319969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4">
            <a:extLst>
              <a:ext uri="{FF2B5EF4-FFF2-40B4-BE49-F238E27FC236}">
                <a16:creationId xmlns:a16="http://schemas.microsoft.com/office/drawing/2014/main" id="{37EC8BA2-9E81-D5F2-E409-10AD780181DD}"/>
              </a:ext>
            </a:extLst>
          </p:cNvPr>
          <p:cNvGraphicFramePr>
            <a:graphicFrameLocks noGrp="1"/>
          </p:cNvGraphicFramePr>
          <p:nvPr/>
        </p:nvGraphicFramePr>
        <p:xfrm>
          <a:off x="4615316" y="1859149"/>
          <a:ext cx="7229138" cy="3199170"/>
        </p:xfrm>
        <a:graphic>
          <a:graphicData uri="http://schemas.openxmlformats.org/drawingml/2006/table">
            <a:tbl>
              <a:tblPr firstRow="1" bandRow="1">
                <a:tableStyleId>{2D5ABB26-0587-4C30-8999-92F81FD0307C}</a:tableStyleId>
              </a:tblPr>
              <a:tblGrid>
                <a:gridCol w="683422">
                  <a:extLst>
                    <a:ext uri="{9D8B030D-6E8A-4147-A177-3AD203B41FA5}">
                      <a16:colId xmlns:a16="http://schemas.microsoft.com/office/drawing/2014/main" val="3817094022"/>
                    </a:ext>
                  </a:extLst>
                </a:gridCol>
                <a:gridCol w="6545716">
                  <a:extLst>
                    <a:ext uri="{9D8B030D-6E8A-4147-A177-3AD203B41FA5}">
                      <a16:colId xmlns:a16="http://schemas.microsoft.com/office/drawing/2014/main" val="1451733573"/>
                    </a:ext>
                  </a:extLst>
                </a:gridCol>
              </a:tblGrid>
              <a:tr h="63983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chemeClr val="tx2"/>
                          </a:solidFill>
                          <a:effectLst/>
                          <a:uLnTx/>
                          <a:uFillTx/>
                          <a:latin typeface="HCLTech Roobert" panose="020B0504030202060203" pitchFamily="34" charset="77"/>
                          <a:ea typeface="+mn-ea"/>
                          <a:cs typeface="HCLTech Roobert" panose="020B0504030202060203" pitchFamily="34" charset="77"/>
                        </a:rPr>
                        <a:t>1</a:t>
                      </a:r>
                    </a:p>
                  </a:txBody>
                  <a:tcPr marL="150781" marR="150781" marT="75390" marB="7539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chemeClr val="tx1">
                              <a:lumMod val="85000"/>
                              <a:lumOff val="15000"/>
                            </a:schemeClr>
                          </a:solidFill>
                          <a:effectLst/>
                          <a:uLnTx/>
                          <a:uFillTx/>
                          <a:latin typeface="HCLTech Roobert" panose="020B0504030202060203" pitchFamily="34" charset="77"/>
                          <a:ea typeface="+mn-ea"/>
                          <a:cs typeface="HCLTech Roobert" panose="020B0504030202060203" pitchFamily="34" charset="77"/>
                        </a:rPr>
                        <a:t>Architecture Design &amp; Decisions</a:t>
                      </a:r>
                    </a:p>
                  </a:txBody>
                  <a:tcPr marL="150781" marR="150781" marT="75390" marB="7539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04520857"/>
                  </a:ext>
                </a:extLst>
              </a:tr>
              <a:tr h="63983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schemeClr val="tx2"/>
                          </a:solidFill>
                          <a:effectLst/>
                          <a:uLnTx/>
                          <a:uFillTx/>
                          <a:latin typeface="HCLTech Roobert" panose="020B0504030202060203" pitchFamily="34" charset="77"/>
                          <a:ea typeface="+mn-ea"/>
                          <a:cs typeface="HCLTech Roobert" panose="020B0504030202060203" pitchFamily="34" charset="77"/>
                        </a:rPr>
                        <a:t>2</a:t>
                      </a:r>
                    </a:p>
                  </a:txBody>
                  <a:tcPr marL="150781" marR="150781" marT="75390" marB="7539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chemeClr val="tx1">
                              <a:lumMod val="85000"/>
                              <a:lumOff val="15000"/>
                            </a:schemeClr>
                          </a:solidFill>
                          <a:effectLst/>
                          <a:uLnTx/>
                          <a:uFillTx/>
                          <a:latin typeface="HCLTech Roobert" panose="020B0504030202060203" pitchFamily="34" charset="77"/>
                          <a:ea typeface="+mn-ea"/>
                          <a:cs typeface="HCLTech Roobert" panose="020B0504030202060203" pitchFamily="34" charset="77"/>
                        </a:rPr>
                        <a:t>GIT details &amp; working platform </a:t>
                      </a:r>
                    </a:p>
                  </a:txBody>
                  <a:tcPr marL="150781" marR="150781" marT="75390" marB="7539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629832316"/>
                  </a:ext>
                </a:extLst>
              </a:tr>
              <a:tr h="63983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schemeClr val="tx2"/>
                          </a:solidFill>
                          <a:effectLst/>
                          <a:uLnTx/>
                          <a:uFillTx/>
                          <a:latin typeface="HCLTech Roobert" panose="020B0504030202060203" pitchFamily="34" charset="77"/>
                          <a:ea typeface="+mn-ea"/>
                          <a:cs typeface="HCLTech Roobert" panose="020B0504030202060203" pitchFamily="34" charset="77"/>
                        </a:rPr>
                        <a:t>3</a:t>
                      </a:r>
                    </a:p>
                  </a:txBody>
                  <a:tcPr marL="150781" marR="150781" marT="75390" marB="7539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chemeClr val="tx1">
                              <a:lumMod val="85000"/>
                              <a:lumOff val="15000"/>
                            </a:schemeClr>
                          </a:solidFill>
                          <a:effectLst/>
                          <a:uLnTx/>
                          <a:uFillTx/>
                          <a:latin typeface="HCLTech Roobert" panose="020B0504030202060203" pitchFamily="34" charset="77"/>
                          <a:ea typeface="+mn-ea"/>
                          <a:cs typeface="HCLTech Roobert" panose="020B0504030202060203" pitchFamily="34" charset="77"/>
                        </a:rPr>
                        <a:t>API Specification</a:t>
                      </a:r>
                    </a:p>
                  </a:txBody>
                  <a:tcPr marL="150781" marR="150781" marT="75390" marB="7539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5017611"/>
                  </a:ext>
                </a:extLst>
              </a:tr>
              <a:tr h="63983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schemeClr val="tx2"/>
                          </a:solidFill>
                          <a:effectLst/>
                          <a:uLnTx/>
                          <a:uFillTx/>
                          <a:latin typeface="HCLTech Roobert" panose="020B0504030202060203" pitchFamily="34" charset="77"/>
                          <a:ea typeface="+mn-ea"/>
                          <a:cs typeface="HCLTech Roobert" panose="020B0504030202060203" pitchFamily="34" charset="77"/>
                        </a:rPr>
                        <a:t>4</a:t>
                      </a:r>
                    </a:p>
                  </a:txBody>
                  <a:tcPr marL="150781" marR="150781" marT="75390" marB="7539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HCLTech Roobert" panose="020B0504030202060203" pitchFamily="34" charset="0"/>
                          <a:cs typeface="HCLTech Roobert" panose="020B0504030202060203" pitchFamily="34" charset="0"/>
                        </a:rPr>
                        <a:t>AI Working Journal</a:t>
                      </a:r>
                      <a:endParaRPr kumimoji="0" lang="en-US" sz="1600" b="1" i="0" u="none" strike="noStrike" kern="1200" cap="none" spc="0" normalizeH="0" baseline="0" noProof="0" dirty="0">
                        <a:ln>
                          <a:noFill/>
                        </a:ln>
                        <a:solidFill>
                          <a:schemeClr val="tx1">
                            <a:lumMod val="85000"/>
                            <a:lumOff val="15000"/>
                          </a:schemeClr>
                        </a:solidFill>
                        <a:effectLst/>
                        <a:uLnTx/>
                        <a:uFillTx/>
                        <a:latin typeface="HCLTech Roobert" panose="020B0504030202060203" pitchFamily="34" charset="77"/>
                        <a:ea typeface="+mn-ea"/>
                        <a:cs typeface="HCLTech Roobert" panose="020B0504030202060203" pitchFamily="34" charset="77"/>
                      </a:endParaRPr>
                    </a:p>
                  </a:txBody>
                  <a:tcPr marL="150781" marR="150781" marT="75390" marB="7539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2791932003"/>
                  </a:ext>
                </a:extLst>
              </a:tr>
              <a:tr h="63983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chemeClr val="tx2"/>
                          </a:solidFill>
                          <a:effectLst/>
                          <a:uLnTx/>
                          <a:uFillTx/>
                          <a:latin typeface="HCLTech Roobert" panose="020B0504030202060203" pitchFamily="34" charset="77"/>
                          <a:ea typeface="+mn-ea"/>
                          <a:cs typeface="HCLTech Roobert" panose="020B0504030202060203" pitchFamily="34" charset="77"/>
                        </a:rPr>
                        <a:t>5</a:t>
                      </a:r>
                    </a:p>
                  </a:txBody>
                  <a:tcPr marL="150781" marR="150781" marT="75390" marB="7539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chemeClr val="tx1">
                              <a:lumMod val="85000"/>
                              <a:lumOff val="15000"/>
                            </a:schemeClr>
                          </a:solidFill>
                          <a:effectLst/>
                          <a:uLnTx/>
                          <a:uFillTx/>
                          <a:latin typeface="HCLTech Roobert" panose="020B0504030202060203" pitchFamily="34" charset="77"/>
                          <a:ea typeface="+mn-ea"/>
                          <a:cs typeface="HCLTech Roobert" panose="020B0504030202060203" pitchFamily="34" charset="77"/>
                        </a:rPr>
                        <a:t>Testing Strategy</a:t>
                      </a:r>
                    </a:p>
                  </a:txBody>
                  <a:tcPr marL="150781" marR="150781" marT="75390" marB="7539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2207156234"/>
                  </a:ext>
                </a:extLst>
              </a:tr>
            </a:tbl>
          </a:graphicData>
        </a:graphic>
      </p:graphicFrame>
      <p:sp>
        <p:nvSpPr>
          <p:cNvPr id="6" name="Text Placeholder 3">
            <a:extLst>
              <a:ext uri="{FF2B5EF4-FFF2-40B4-BE49-F238E27FC236}">
                <a16:creationId xmlns:a16="http://schemas.microsoft.com/office/drawing/2014/main" id="{53E8C3DB-A52A-0E2F-A6B4-4DE5BB4A2C96}"/>
              </a:ext>
            </a:extLst>
          </p:cNvPr>
          <p:cNvSpPr txBox="1">
            <a:spLocks/>
          </p:cNvSpPr>
          <p:nvPr/>
        </p:nvSpPr>
        <p:spPr>
          <a:xfrm>
            <a:off x="5675724" y="1653773"/>
            <a:ext cx="5574167" cy="785743"/>
          </a:xfrm>
          <a:prstGeom prst="rect">
            <a:avLst/>
          </a:prstGeom>
        </p:spPr>
        <p:txBody>
          <a:bodyPr vert="horz" lIns="91440" tIns="45720" rIns="91440" bIns="45720" rtlCol="0" anchor="ctr">
            <a:noAutofit/>
          </a:bodyPr>
          <a:lstStyle>
            <a:lvl1pPr marL="0" indent="0" algn="l" defTabSz="914400" rtl="0" eaLnBrk="1" latinLnBrk="0" hangingPunct="1">
              <a:lnSpc>
                <a:spcPct val="100000"/>
              </a:lnSpc>
              <a:spcBef>
                <a:spcPts val="0"/>
              </a:spcBef>
              <a:buFont typeface="Arial" panose="020B0604020202020204" pitchFamily="34" charset="0"/>
              <a:buNone/>
              <a:defRPr sz="1800" b="1" kern="1200">
                <a:solidFill>
                  <a:schemeClr val="tx2"/>
                </a:solidFill>
                <a:latin typeface="HCLTech Roobert" pitchFamily="50"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HCLTech Roobert" pitchFamily="50"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HCLTech Roobert" pitchFamily="50"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HCLTech Roobert" pitchFamily="50"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HCLTech Roober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sz="1800" b="1" i="0" u="none" strike="noStrike" kern="1200" cap="none" spc="0" normalizeH="0" baseline="0" noProof="0">
              <a:ln>
                <a:noFill/>
              </a:ln>
              <a:solidFill>
                <a:srgbClr val="5F1EBE"/>
              </a:solidFill>
              <a:effectLst/>
              <a:uLnTx/>
              <a:uFillTx/>
              <a:latin typeface="+mj-lt"/>
            </a:endParaRPr>
          </a:p>
        </p:txBody>
      </p:sp>
      <p:sp>
        <p:nvSpPr>
          <p:cNvPr id="7" name="TextBox 6">
            <a:extLst>
              <a:ext uri="{FF2B5EF4-FFF2-40B4-BE49-F238E27FC236}">
                <a16:creationId xmlns:a16="http://schemas.microsoft.com/office/drawing/2014/main" id="{C4499E65-74E8-3872-EF1D-6AE5BECF0B6E}"/>
              </a:ext>
            </a:extLst>
          </p:cNvPr>
          <p:cNvSpPr txBox="1"/>
          <p:nvPr/>
        </p:nvSpPr>
        <p:spPr>
          <a:xfrm>
            <a:off x="4432151" y="245690"/>
            <a:ext cx="4362289"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chemeClr val="tx2"/>
                </a:solidFill>
                <a:effectLst/>
                <a:uLnTx/>
                <a:uFillTx/>
                <a:latin typeface="Aptos" panose="020B0004020202020204" pitchFamily="34" charset="0"/>
              </a:rPr>
              <a:t>Agenda</a:t>
            </a:r>
            <a:endParaRPr kumimoji="0" lang="en-GB" sz="3200" b="1" i="0" u="none" strike="noStrike" kern="1200" cap="none" spc="0" normalizeH="0" baseline="0" noProof="0" dirty="0">
              <a:ln>
                <a:noFill/>
              </a:ln>
              <a:solidFill>
                <a:schemeClr val="tx2"/>
              </a:solidFill>
              <a:effectLst/>
              <a:uLnTx/>
              <a:uFillTx/>
              <a:latin typeface="Aptos" panose="020B0004020202020204" pitchFamily="34" charset="0"/>
            </a:endParaRPr>
          </a:p>
        </p:txBody>
      </p:sp>
    </p:spTree>
    <p:extLst>
      <p:ext uri="{BB962C8B-B14F-4D97-AF65-F5344CB8AC3E}">
        <p14:creationId xmlns:p14="http://schemas.microsoft.com/office/powerpoint/2010/main" val="27860128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731520"/>
          </a:xfrm>
          <a:prstGeom prst="rect">
            <a:avLst/>
          </a:prstGeom>
          <a:noFill/>
        </p:spPr>
        <p:txBody>
          <a:bodyPr wrap="none">
            <a:spAutoFit/>
          </a:bodyPr>
          <a:lstStyle/>
          <a:p>
            <a:pPr>
              <a:defRPr sz="2700" b="1">
                <a:solidFill>
                  <a:srgbClr val="5F1EBE"/>
                </a:solidFill>
                <a:latin typeface="Calibri Light"/>
              </a:defRPr>
            </a:pPr>
            <a:r>
              <a:t>1. Architecture Design &amp; Decisions</a:t>
            </a:r>
          </a:p>
        </p:txBody>
      </p:sp>
      <p:sp>
        <p:nvSpPr>
          <p:cNvPr id="3" name="Rectangle 2"/>
          <p:cNvSpPr/>
          <p:nvPr/>
        </p:nvSpPr>
        <p:spPr>
          <a:xfrm>
            <a:off x="530352" y="1024128"/>
            <a:ext cx="2194560" cy="38100"/>
          </a:xfrm>
          <a:prstGeom prst="rect">
            <a:avLst/>
          </a:prstGeom>
          <a:solidFill>
            <a:srgbClr val="5F1E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240280" y="1298448"/>
            <a:ext cx="7726679" cy="868680"/>
          </a:xfrm>
          <a:prstGeom prst="roundRect">
            <a:avLst/>
          </a:prstGeom>
          <a:solidFill>
            <a:srgbClr val="ECE6FB"/>
          </a:solidFill>
          <a:ln w="15875">
            <a:solidFill>
              <a:srgbClr val="5F1EBE"/>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l">
              <a:spcAft>
                <a:spcPts val="200"/>
              </a:spcAft>
              <a:defRPr sz="1500" b="1">
                <a:solidFill>
                  <a:srgbClr val="262626"/>
                </a:solidFill>
                <a:latin typeface="Calibri"/>
              </a:defRPr>
            </a:pPr>
            <a:r>
              <a:t>API</a:t>
            </a:r>
          </a:p>
          <a:p>
            <a:pPr algn="l">
              <a:spcAft>
                <a:spcPts val="200"/>
              </a:spcAft>
              <a:defRPr sz="1100" b="0">
                <a:solidFill>
                  <a:srgbClr val="262626"/>
                </a:solidFill>
                <a:latin typeface="Calibri"/>
              </a:defRPr>
            </a:pPr>
            <a:r>
              <a:t>controllers · request/response DTOs · mapper · global exception handler</a:t>
            </a:r>
          </a:p>
        </p:txBody>
      </p:sp>
      <p:sp>
        <p:nvSpPr>
          <p:cNvPr id="5" name="Rounded Rectangle 4"/>
          <p:cNvSpPr/>
          <p:nvPr/>
        </p:nvSpPr>
        <p:spPr>
          <a:xfrm>
            <a:off x="2240280" y="2487168"/>
            <a:ext cx="7726679" cy="868680"/>
          </a:xfrm>
          <a:prstGeom prst="roundRect">
            <a:avLst/>
          </a:prstGeom>
          <a:solidFill>
            <a:srgbClr val="ECE6FB"/>
          </a:solidFill>
          <a:ln w="15875">
            <a:solidFill>
              <a:srgbClr val="5F1EBE"/>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l">
              <a:spcAft>
                <a:spcPts val="200"/>
              </a:spcAft>
              <a:defRPr sz="1500" b="1">
                <a:solidFill>
                  <a:srgbClr val="262626"/>
                </a:solidFill>
                <a:latin typeface="Calibri"/>
              </a:defRPr>
            </a:pPr>
            <a:r>
              <a:t>Service</a:t>
            </a:r>
          </a:p>
          <a:p>
            <a:pPr algn="l">
              <a:spcAft>
                <a:spcPts val="200"/>
              </a:spcAft>
              <a:defRPr sz="1100" b="0">
                <a:solidFill>
                  <a:srgbClr val="262626"/>
                </a:solidFill>
                <a:latin typeface="Calibri"/>
              </a:defRPr>
            </a:pPr>
            <a:r>
              <a:t>use cases (PolicyService) · PolicySummary · caching · transactions</a:t>
            </a:r>
          </a:p>
        </p:txBody>
      </p:sp>
      <p:sp>
        <p:nvSpPr>
          <p:cNvPr id="6" name="Rounded Rectangle 5"/>
          <p:cNvSpPr/>
          <p:nvPr/>
        </p:nvSpPr>
        <p:spPr>
          <a:xfrm>
            <a:off x="2240280" y="3675887"/>
            <a:ext cx="7726679" cy="868680"/>
          </a:xfrm>
          <a:prstGeom prst="roundRect">
            <a:avLst/>
          </a:prstGeom>
          <a:solidFill>
            <a:srgbClr val="5F1EB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l">
              <a:spcAft>
                <a:spcPts val="200"/>
              </a:spcAft>
              <a:defRPr sz="1500" b="1">
                <a:solidFill>
                  <a:srgbClr val="FFFFFF"/>
                </a:solidFill>
                <a:latin typeface="Calibri"/>
              </a:defRPr>
            </a:pPr>
            <a:r>
              <a:t>Domain  (core)</a:t>
            </a:r>
          </a:p>
          <a:p>
            <a:pPr algn="l">
              <a:spcAft>
                <a:spcPts val="200"/>
              </a:spcAft>
              <a:defRPr sz="1100" b="0">
                <a:solidFill>
                  <a:srgbClr val="FFFFFF"/>
                </a:solidFill>
                <a:latin typeface="Calibri"/>
              </a:defRPr>
            </a:pPr>
            <a:r>
              <a:t>Policy POJO + enums · PolicyRepositoryPort · query value objects  —  zero framework imports</a:t>
            </a:r>
          </a:p>
        </p:txBody>
      </p:sp>
      <p:sp>
        <p:nvSpPr>
          <p:cNvPr id="7" name="Rounded Rectangle 6"/>
          <p:cNvSpPr/>
          <p:nvPr/>
        </p:nvSpPr>
        <p:spPr>
          <a:xfrm>
            <a:off x="2240280" y="4956048"/>
            <a:ext cx="7726679" cy="868680"/>
          </a:xfrm>
          <a:prstGeom prst="roundRect">
            <a:avLst/>
          </a:prstGeom>
          <a:solidFill>
            <a:srgbClr val="ECE6FB"/>
          </a:solidFill>
          <a:ln w="15875">
            <a:solidFill>
              <a:srgbClr val="5F1EBE"/>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l">
              <a:spcAft>
                <a:spcPts val="200"/>
              </a:spcAft>
              <a:defRPr sz="1500" b="1">
                <a:solidFill>
                  <a:srgbClr val="262626"/>
                </a:solidFill>
                <a:latin typeface="Calibri"/>
              </a:defRPr>
            </a:pPr>
            <a:r>
              <a:t>Infrastructure</a:t>
            </a:r>
          </a:p>
          <a:p>
            <a:pPr algn="l">
              <a:spcAft>
                <a:spcPts val="200"/>
              </a:spcAft>
              <a:defRPr sz="1100" b="0">
                <a:solidFill>
                  <a:srgbClr val="262626"/>
                </a:solidFill>
                <a:latin typeface="Calibri"/>
              </a:defRPr>
            </a:pPr>
            <a:r>
              <a:t>JPA entity &amp; mapper · Spring Data repo · persistence adapter · Specifications</a:t>
            </a:r>
          </a:p>
        </p:txBody>
      </p:sp>
      <p:sp>
        <p:nvSpPr>
          <p:cNvPr id="8" name="Down Arrow 7"/>
          <p:cNvSpPr/>
          <p:nvPr/>
        </p:nvSpPr>
        <p:spPr>
          <a:xfrm>
            <a:off x="5897880" y="2194560"/>
            <a:ext cx="402336" cy="274320"/>
          </a:xfrm>
          <a:prstGeom prst="downArrow">
            <a:avLst/>
          </a:prstGeom>
          <a:solidFill>
            <a:srgbClr val="C9B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wn Arrow 8"/>
          <p:cNvSpPr/>
          <p:nvPr/>
        </p:nvSpPr>
        <p:spPr>
          <a:xfrm>
            <a:off x="5897880" y="3383280"/>
            <a:ext cx="402336" cy="274320"/>
          </a:xfrm>
          <a:prstGeom prst="downArrow">
            <a:avLst/>
          </a:prstGeom>
          <a:solidFill>
            <a:srgbClr val="C9B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Up Arrow 9"/>
          <p:cNvSpPr/>
          <p:nvPr/>
        </p:nvSpPr>
        <p:spPr>
          <a:xfrm>
            <a:off x="5897880" y="4626864"/>
            <a:ext cx="402336" cy="310896"/>
          </a:xfrm>
          <a:prstGeom prst="upArrow">
            <a:avLst/>
          </a:prstGeom>
          <a:solidFill>
            <a:srgbClr val="C9B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4626864"/>
            <a:ext cx="3383280" cy="310896"/>
          </a:xfrm>
          <a:prstGeom prst="rect">
            <a:avLst/>
          </a:prstGeom>
          <a:noFill/>
        </p:spPr>
        <p:txBody>
          <a:bodyPr wrap="square" anchor="ctr" lIns="101600" rIns="101600" tIns="50800" bIns="50800">
            <a:spAutoFit/>
          </a:bodyPr>
          <a:lstStyle/>
          <a:p>
            <a:pPr algn="l">
              <a:spcAft>
                <a:spcPts val="200"/>
              </a:spcAft>
              <a:defRPr sz="1100" b="1">
                <a:solidFill>
                  <a:srgbClr val="5F1EBE"/>
                </a:solidFill>
                <a:latin typeface="Calibri"/>
              </a:defRPr>
            </a:pPr>
            <a:r>
              <a:t>implements the port  →  DIP</a:t>
            </a:r>
          </a:p>
        </p:txBody>
      </p:sp>
      <p:sp>
        <p:nvSpPr>
          <p:cNvPr id="12" name="TextBox 11"/>
          <p:cNvSpPr txBox="1"/>
          <p:nvPr/>
        </p:nvSpPr>
        <p:spPr>
          <a:xfrm>
            <a:off x="548640" y="5989320"/>
            <a:ext cx="11064240" cy="548640"/>
          </a:xfrm>
          <a:prstGeom prst="rect">
            <a:avLst/>
          </a:prstGeom>
          <a:noFill/>
        </p:spPr>
        <p:txBody>
          <a:bodyPr wrap="none">
            <a:spAutoFit/>
          </a:bodyPr>
          <a:lstStyle/>
          <a:p>
            <a:pPr>
              <a:defRPr sz="1200" i="1">
                <a:solidFill>
                  <a:srgbClr val="595959"/>
                </a:solidFill>
                <a:latin typeface="Calibri"/>
              </a:defRPr>
            </a:pPr>
            <a:r>
              <a:t>Hexagonal / ports &amp; adapters: every dependency arrow points inward. The domain depends on nothing; infrastructure implements the domain-owned PolicyRepositoryPort.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731520"/>
          </a:xfrm>
          <a:prstGeom prst="rect">
            <a:avLst/>
          </a:prstGeom>
          <a:noFill/>
        </p:spPr>
        <p:txBody>
          <a:bodyPr wrap="none">
            <a:spAutoFit/>
          </a:bodyPr>
          <a:lstStyle/>
          <a:p>
            <a:pPr>
              <a:defRPr sz="2700" b="1">
                <a:solidFill>
                  <a:srgbClr val="5F1EBE"/>
                </a:solidFill>
                <a:latin typeface="Calibri Light"/>
              </a:defRPr>
            </a:pPr>
            <a:r>
              <a:t>1. Architecture — Key Decisions &amp; Why</a:t>
            </a:r>
          </a:p>
        </p:txBody>
      </p:sp>
      <p:sp>
        <p:nvSpPr>
          <p:cNvPr id="3" name="Rectangle 2"/>
          <p:cNvSpPr/>
          <p:nvPr/>
        </p:nvSpPr>
        <p:spPr>
          <a:xfrm>
            <a:off x="530352" y="1024128"/>
            <a:ext cx="2194560" cy="38100"/>
          </a:xfrm>
          <a:prstGeom prst="rect">
            <a:avLst/>
          </a:prstGeom>
          <a:solidFill>
            <a:srgbClr val="5F1E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11109960" cy="713232"/>
          </a:xfrm>
          <a:prstGeom prst="roundRect">
            <a:avLst/>
          </a:prstGeom>
          <a:solidFill>
            <a:srgbClr val="ECE6FB"/>
          </a:solidFill>
          <a:ln w="15875">
            <a:solidFill>
              <a:srgbClr val="C9B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l">
              <a:spcAft>
                <a:spcPts val="200"/>
              </a:spcAft>
              <a:defRPr sz="1350" b="0">
                <a:solidFill>
                  <a:srgbClr val="262626"/>
                </a:solidFill>
                <a:latin typeface="Calibri"/>
              </a:defRPr>
            </a:pPr>
            <a:r>
              <a:rPr b="0"/>
              <a:t>Domain-owned persistence port (DIP)  —  swap persistence technology without touching domain or service code</a:t>
            </a:r>
          </a:p>
        </p:txBody>
      </p:sp>
      <p:sp>
        <p:nvSpPr>
          <p:cNvPr id="5" name="Rounded Rectangle 4"/>
          <p:cNvSpPr/>
          <p:nvPr/>
        </p:nvSpPr>
        <p:spPr>
          <a:xfrm>
            <a:off x="548640" y="2148840"/>
            <a:ext cx="11109960" cy="713232"/>
          </a:xfrm>
          <a:prstGeom prst="roundRect">
            <a:avLst/>
          </a:prstGeom>
          <a:solidFill>
            <a:srgbClr val="ECE6FB"/>
          </a:solidFill>
          <a:ln w="15875">
            <a:solidFill>
              <a:srgbClr val="C9B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l">
              <a:spcAft>
                <a:spcPts val="200"/>
              </a:spcAft>
              <a:defRPr sz="1350" b="0">
                <a:solidFill>
                  <a:srgbClr val="262626"/>
                </a:solidFill>
                <a:latin typeface="Calibri"/>
              </a:defRPr>
            </a:pPr>
            <a:r>
              <a:rPr b="0"/>
              <a:t>POJO domain vs JPA entity split  —  ORM concerns never leak into business logic; the two evolve independently</a:t>
            </a:r>
          </a:p>
        </p:txBody>
      </p:sp>
      <p:sp>
        <p:nvSpPr>
          <p:cNvPr id="6" name="Rounded Rectangle 5"/>
          <p:cNvSpPr/>
          <p:nvPr/>
        </p:nvSpPr>
        <p:spPr>
          <a:xfrm>
            <a:off x="548640" y="2971800"/>
            <a:ext cx="11109960" cy="713232"/>
          </a:xfrm>
          <a:prstGeom prst="roundRect">
            <a:avLst/>
          </a:prstGeom>
          <a:solidFill>
            <a:srgbClr val="ECE6FB"/>
          </a:solidFill>
          <a:ln w="15875">
            <a:solidFill>
              <a:srgbClr val="C9B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l">
              <a:spcAft>
                <a:spcPts val="200"/>
              </a:spcAft>
              <a:defRPr sz="1350" b="0">
                <a:solidFill>
                  <a:srgbClr val="262626"/>
                </a:solidFill>
                <a:latin typeface="Calibri"/>
              </a:defRPr>
            </a:pPr>
            <a:r>
              <a:rPr b="0"/>
              <a:t>Open/Closed filtering via Specifications  —  add a new filter = add one null-safe criterion; existing ones untouched</a:t>
            </a:r>
          </a:p>
        </p:txBody>
      </p:sp>
      <p:sp>
        <p:nvSpPr>
          <p:cNvPr id="7" name="Rounded Rectangle 6"/>
          <p:cNvSpPr/>
          <p:nvPr/>
        </p:nvSpPr>
        <p:spPr>
          <a:xfrm>
            <a:off x="548640" y="3794760"/>
            <a:ext cx="11109960" cy="713232"/>
          </a:xfrm>
          <a:prstGeom prst="roundRect">
            <a:avLst/>
          </a:prstGeom>
          <a:solidFill>
            <a:srgbClr val="ECE6FB"/>
          </a:solidFill>
          <a:ln w="15875">
            <a:solidFill>
              <a:srgbClr val="C9B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l">
              <a:spcAft>
                <a:spcPts val="200"/>
              </a:spcAft>
              <a:defRPr sz="1350" b="0">
                <a:solidFill>
                  <a:srgbClr val="262626"/>
                </a:solidFill>
                <a:latin typeface="Calibri"/>
              </a:defRPr>
            </a:pPr>
            <a:r>
              <a:rPr b="0"/>
              <a:t>Flyway owns schema, Hibernate validates  —  reproducible schema; no silent table changes from ddl-auto=update</a:t>
            </a:r>
          </a:p>
        </p:txBody>
      </p:sp>
      <p:sp>
        <p:nvSpPr>
          <p:cNvPr id="8" name="Rounded Rectangle 7"/>
          <p:cNvSpPr/>
          <p:nvPr/>
        </p:nvSpPr>
        <p:spPr>
          <a:xfrm>
            <a:off x="548640" y="4617720"/>
            <a:ext cx="11109960" cy="713232"/>
          </a:xfrm>
          <a:prstGeom prst="roundRect">
            <a:avLst/>
          </a:prstGeom>
          <a:solidFill>
            <a:srgbClr val="ECE6FB"/>
          </a:solidFill>
          <a:ln w="15875">
            <a:solidFill>
              <a:srgbClr val="C9B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l">
              <a:spcAft>
                <a:spcPts val="200"/>
              </a:spcAft>
              <a:defRPr sz="1350" b="0">
                <a:solidFill>
                  <a:srgbClr val="262626"/>
                </a:solidFill>
                <a:latin typeface="Calibri"/>
              </a:defRPr>
            </a:pPr>
            <a:r>
              <a:rPr b="0"/>
              <a:t>Caffeine caching: TTL + event eviction  —  fast reads with bounded staleness; flagging evicts listings/detail at once</a:t>
            </a:r>
          </a:p>
        </p:txBody>
      </p:sp>
      <p:sp>
        <p:nvSpPr>
          <p:cNvPr id="9" name="Rounded Rectangle 8"/>
          <p:cNvSpPr/>
          <p:nvPr/>
        </p:nvSpPr>
        <p:spPr>
          <a:xfrm>
            <a:off x="548640" y="5440680"/>
            <a:ext cx="11109960" cy="713232"/>
          </a:xfrm>
          <a:prstGeom prst="roundRect">
            <a:avLst/>
          </a:prstGeom>
          <a:solidFill>
            <a:srgbClr val="ECE6FB"/>
          </a:solidFill>
          <a:ln w="15875">
            <a:solidFill>
              <a:srgbClr val="C9B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l">
              <a:spcAft>
                <a:spcPts val="200"/>
              </a:spcAft>
              <a:defRPr sz="1350" b="0">
                <a:solidFill>
                  <a:srgbClr val="262626"/>
                </a:solidFill>
                <a:latin typeface="Calibri"/>
              </a:defRPr>
            </a:pPr>
            <a:r>
              <a:rPr b="0"/>
              <a:t>12-factor config + Actuator health  —  env-driven settings; liveness/readiness probes for orchestration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731520"/>
          </a:xfrm>
          <a:prstGeom prst="rect">
            <a:avLst/>
          </a:prstGeom>
          <a:noFill/>
        </p:spPr>
        <p:txBody>
          <a:bodyPr wrap="none">
            <a:spAutoFit/>
          </a:bodyPr>
          <a:lstStyle/>
          <a:p>
            <a:pPr>
              <a:defRPr sz="2700" b="1">
                <a:solidFill>
                  <a:srgbClr val="5F1EBE"/>
                </a:solidFill>
                <a:latin typeface="Calibri Light"/>
              </a:defRPr>
            </a:pPr>
            <a:r>
              <a:t>2. GIT Details &amp; Working Platform</a:t>
            </a:r>
          </a:p>
        </p:txBody>
      </p:sp>
      <p:sp>
        <p:nvSpPr>
          <p:cNvPr id="3" name="Rectangle 2"/>
          <p:cNvSpPr/>
          <p:nvPr/>
        </p:nvSpPr>
        <p:spPr>
          <a:xfrm>
            <a:off x="530352" y="1024128"/>
            <a:ext cx="2194560" cy="38100"/>
          </a:xfrm>
          <a:prstGeom prst="rect">
            <a:avLst/>
          </a:prstGeom>
          <a:solidFill>
            <a:srgbClr val="5F1E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5897880" cy="4297680"/>
          </a:xfrm>
          <a:prstGeom prst="roundRect">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101600" bIns="76200"/>
          <a:lstStyle/>
          <a:p>
            <a:pPr algn="ctr">
              <a:spcAft>
                <a:spcPts val="400"/>
              </a:spcAft>
              <a:defRPr sz="1500" b="1">
                <a:solidFill>
                  <a:srgbClr val="5F1EBE"/>
                </a:solidFill>
                <a:latin typeface="Calibri Light"/>
              </a:defRPr>
            </a:pPr>
            <a:r>
              <a:t>Repository &amp; workflow</a:t>
            </a:r>
          </a:p>
          <a:p>
            <a:pPr>
              <a:spcAft>
                <a:spcPts val="300"/>
              </a:spcAft>
              <a:defRPr sz="1200">
                <a:solidFill>
                  <a:srgbClr val="262626"/>
                </a:solidFill>
                <a:latin typeface="Calibri"/>
              </a:defRPr>
            </a:pPr>
            <a:r>
              <a:t>•  github.com/meetravig-collab/InsurancePolicyListDemo  (public)</a:t>
            </a:r>
          </a:p>
          <a:p>
            <a:pPr>
              <a:spcAft>
                <a:spcPts val="300"/>
              </a:spcAft>
              <a:defRPr sz="1200">
                <a:solidFill>
                  <a:srgbClr val="262626"/>
                </a:solidFill>
                <a:latin typeface="Calibri"/>
              </a:defRPr>
            </a:pPr>
            <a:r>
              <a:t>•  Default branch: dev  (master kept in sync via fast-forward)</a:t>
            </a:r>
          </a:p>
          <a:p>
            <a:pPr>
              <a:spcAft>
                <a:spcPts val="300"/>
              </a:spcAft>
              <a:defRPr sz="1200">
                <a:solidFill>
                  <a:srgbClr val="262626"/>
                </a:solidFill>
                <a:latin typeface="Calibri"/>
              </a:defRPr>
            </a:pPr>
            <a:r>
              <a:t>•  Flow: work on dev → CI gate (mvn verify) → image to GHCR</a:t>
            </a:r>
          </a:p>
          <a:p>
            <a:pPr>
              <a:spcAft>
                <a:spcPts val="300"/>
              </a:spcAft>
              <a:defRPr sz="1200">
                <a:solidFill>
                  <a:srgbClr val="262626"/>
                </a:solidFill>
                <a:latin typeface="Calibri"/>
              </a:defRPr>
            </a:pPr>
            <a:r>
              <a:t>•  GitHub Actions pinned to commit SHAs (supply-chain hardening)</a:t>
            </a:r>
          </a:p>
          <a:p>
            <a:pPr>
              <a:spcAft>
                <a:spcPts val="300"/>
              </a:spcAft>
              <a:defRPr sz="1200">
                <a:solidFill>
                  <a:srgbClr val="262626"/>
                </a:solidFill>
                <a:latin typeface="Calibri"/>
              </a:defRPr>
            </a:pPr>
            <a:r>
              <a:t>•  Dependabot + security alerts enabled</a:t>
            </a:r>
          </a:p>
          <a:p>
            <a:pPr>
              <a:spcAft>
                <a:spcPts val="300"/>
              </a:spcAft>
              <a:defRPr sz="1200">
                <a:solidFill>
                  <a:srgbClr val="262626"/>
                </a:solidFill>
                <a:latin typeface="Calibri"/>
              </a:defRPr>
            </a:pPr>
            <a:r>
              <a:t>•  Commits carry a descriptive message + Co-Authored-By trailer</a:t>
            </a:r>
          </a:p>
        </p:txBody>
      </p:sp>
      <p:graphicFrame>
        <p:nvGraphicFramePr>
          <p:cNvPr id="5" name="Table 4"/>
          <p:cNvGraphicFramePr>
            <a:graphicFrameLocks noGrp="1"/>
          </p:cNvGraphicFramePr>
          <p:nvPr/>
        </p:nvGraphicFramePr>
        <p:xfrm>
          <a:off x="6629400" y="1463040"/>
          <a:ext cx="4983480" cy="3200400"/>
        </p:xfrm>
        <a:graphic>
          <a:graphicData uri="http://schemas.openxmlformats.org/drawingml/2006/table">
            <a:tbl>
              <a:tblPr firstRow="1" bandRow="1">
                <a:tableStyleId>{5C22544A-7EE6-4342-B048-85BDC9FD1C3A}</a:tableStyleId>
              </a:tblPr>
              <a:tblGrid>
                <a:gridCol w="1828800"/>
                <a:gridCol w="3154680"/>
              </a:tblGrid>
              <a:tr h="457200">
                <a:tc>
                  <a:txBody>
                    <a:bodyPr/>
                    <a:lstStyle/>
                    <a:p>
                      <a:pPr>
                        <a:defRPr sz="1250" b="1">
                          <a:solidFill>
                            <a:srgbClr val="FFFFFF"/>
                          </a:solidFill>
                          <a:latin typeface="Calibri"/>
                        </a:defRPr>
                      </a:pPr>
                      <a:r>
                        <a:t>Concern</a:t>
                      </a:r>
                    </a:p>
                  </a:txBody>
                  <a:tcPr anchor="ctr" marT="25400" marB="25400" marL="88900" marR="88900">
                    <a:solidFill>
                      <a:srgbClr val="5F1EBE"/>
                    </a:solidFill>
                  </a:tcPr>
                </a:tc>
                <a:tc>
                  <a:txBody>
                    <a:bodyPr/>
                    <a:lstStyle/>
                    <a:p>
                      <a:pPr>
                        <a:defRPr sz="1250" b="1">
                          <a:solidFill>
                            <a:srgbClr val="FFFFFF"/>
                          </a:solidFill>
                          <a:latin typeface="Calibri"/>
                        </a:defRPr>
                      </a:pPr>
                      <a:r>
                        <a:t>Choice</a:t>
                      </a:r>
                    </a:p>
                  </a:txBody>
                  <a:tcPr anchor="ctr" marT="25400" marB="25400" marL="88900" marR="88900">
                    <a:solidFill>
                      <a:srgbClr val="5F1EBE"/>
                    </a:solidFill>
                  </a:tcPr>
                </a:tc>
              </a:tr>
              <a:tr h="457200">
                <a:tc>
                  <a:txBody>
                    <a:bodyPr/>
                    <a:lstStyle/>
                    <a:p>
                      <a:pPr>
                        <a:defRPr sz="1250">
                          <a:solidFill>
                            <a:srgbClr val="262626"/>
                          </a:solidFill>
                          <a:latin typeface="Calibri"/>
                        </a:defRPr>
                      </a:pPr>
                      <a:r>
                        <a:t>Language</a:t>
                      </a:r>
                    </a:p>
                  </a:txBody>
                  <a:tcPr anchor="ctr" marT="25400" marB="25400" marL="88900" marR="88900">
                    <a:solidFill>
                      <a:srgbClr val="FFFFFF"/>
                    </a:solidFill>
                  </a:tcPr>
                </a:tc>
                <a:tc>
                  <a:txBody>
                    <a:bodyPr/>
                    <a:lstStyle/>
                    <a:p>
                      <a:pPr>
                        <a:defRPr sz="1250">
                          <a:solidFill>
                            <a:srgbClr val="262626"/>
                          </a:solidFill>
                          <a:latin typeface="Calibri"/>
                        </a:defRPr>
                      </a:pPr>
                      <a:r>
                        <a:t>Java 17 (Temurin)</a:t>
                      </a:r>
                    </a:p>
                  </a:txBody>
                  <a:tcPr anchor="ctr" marT="25400" marB="25400" marL="88900" marR="88900">
                    <a:solidFill>
                      <a:srgbClr val="FFFFFF"/>
                    </a:solidFill>
                  </a:tcPr>
                </a:tc>
              </a:tr>
              <a:tr h="457200">
                <a:tc>
                  <a:txBody>
                    <a:bodyPr/>
                    <a:lstStyle/>
                    <a:p>
                      <a:pPr>
                        <a:defRPr sz="1250">
                          <a:solidFill>
                            <a:srgbClr val="262626"/>
                          </a:solidFill>
                          <a:latin typeface="Calibri"/>
                        </a:defRPr>
                      </a:pPr>
                      <a:r>
                        <a:t>Build</a:t>
                      </a:r>
                    </a:p>
                  </a:txBody>
                  <a:tcPr anchor="ctr" marT="25400" marB="25400" marL="88900" marR="88900">
                    <a:solidFill>
                      <a:srgbClr val="ECE6FB"/>
                    </a:solidFill>
                  </a:tcPr>
                </a:tc>
                <a:tc>
                  <a:txBody>
                    <a:bodyPr/>
                    <a:lstStyle/>
                    <a:p>
                      <a:pPr>
                        <a:defRPr sz="1250">
                          <a:solidFill>
                            <a:srgbClr val="262626"/>
                          </a:solidFill>
                          <a:latin typeface="Calibri"/>
                        </a:defRPr>
                      </a:pPr>
                      <a:r>
                        <a:t>Maven 3.9</a:t>
                      </a:r>
                    </a:p>
                  </a:txBody>
                  <a:tcPr anchor="ctr" marT="25400" marB="25400" marL="88900" marR="88900">
                    <a:solidFill>
                      <a:srgbClr val="ECE6FB"/>
                    </a:solidFill>
                  </a:tcPr>
                </a:tc>
              </a:tr>
              <a:tr h="457200">
                <a:tc>
                  <a:txBody>
                    <a:bodyPr/>
                    <a:lstStyle/>
                    <a:p>
                      <a:pPr>
                        <a:defRPr sz="1250">
                          <a:solidFill>
                            <a:srgbClr val="262626"/>
                          </a:solidFill>
                          <a:latin typeface="Calibri"/>
                        </a:defRPr>
                      </a:pPr>
                      <a:r>
                        <a:t>Database</a:t>
                      </a:r>
                    </a:p>
                  </a:txBody>
                  <a:tcPr anchor="ctr" marT="25400" marB="25400" marL="88900" marR="88900">
                    <a:solidFill>
                      <a:srgbClr val="FFFFFF"/>
                    </a:solidFill>
                  </a:tcPr>
                </a:tc>
                <a:tc>
                  <a:txBody>
                    <a:bodyPr/>
                    <a:lstStyle/>
                    <a:p>
                      <a:pPr>
                        <a:defRPr sz="1250">
                          <a:solidFill>
                            <a:srgbClr val="262626"/>
                          </a:solidFill>
                          <a:latin typeface="Calibri"/>
                        </a:defRPr>
                      </a:pPr>
                      <a:r>
                        <a:t>PostgreSQL 16</a:t>
                      </a:r>
                    </a:p>
                  </a:txBody>
                  <a:tcPr anchor="ctr" marT="25400" marB="25400" marL="88900" marR="88900">
                    <a:solidFill>
                      <a:srgbClr val="FFFFFF"/>
                    </a:solidFill>
                  </a:tcPr>
                </a:tc>
              </a:tr>
              <a:tr h="457200">
                <a:tc>
                  <a:txBody>
                    <a:bodyPr/>
                    <a:lstStyle/>
                    <a:p>
                      <a:pPr>
                        <a:defRPr sz="1250">
                          <a:solidFill>
                            <a:srgbClr val="262626"/>
                          </a:solidFill>
                          <a:latin typeface="Calibri"/>
                        </a:defRPr>
                      </a:pPr>
                      <a:r>
                        <a:t>Container</a:t>
                      </a:r>
                    </a:p>
                  </a:txBody>
                  <a:tcPr anchor="ctr" marT="25400" marB="25400" marL="88900" marR="88900">
                    <a:solidFill>
                      <a:srgbClr val="ECE6FB"/>
                    </a:solidFill>
                  </a:tcPr>
                </a:tc>
                <a:tc>
                  <a:txBody>
                    <a:bodyPr/>
                    <a:lstStyle/>
                    <a:p>
                      <a:pPr>
                        <a:defRPr sz="1250">
                          <a:solidFill>
                            <a:srgbClr val="262626"/>
                          </a:solidFill>
                          <a:latin typeface="Calibri"/>
                        </a:defRPr>
                      </a:pPr>
                      <a:r>
                        <a:t>Docker + docker-compose</a:t>
                      </a:r>
                    </a:p>
                  </a:txBody>
                  <a:tcPr anchor="ctr" marT="25400" marB="25400" marL="88900" marR="88900">
                    <a:solidFill>
                      <a:srgbClr val="ECE6FB"/>
                    </a:solidFill>
                  </a:tcPr>
                </a:tc>
              </a:tr>
              <a:tr h="457200">
                <a:tc>
                  <a:txBody>
                    <a:bodyPr/>
                    <a:lstStyle/>
                    <a:p>
                      <a:pPr>
                        <a:defRPr sz="1250">
                          <a:solidFill>
                            <a:srgbClr val="262626"/>
                          </a:solidFill>
                          <a:latin typeface="Calibri"/>
                        </a:defRPr>
                      </a:pPr>
                      <a:r>
                        <a:t>CI / Registry</a:t>
                      </a:r>
                    </a:p>
                  </a:txBody>
                  <a:tcPr anchor="ctr" marT="25400" marB="25400" marL="88900" marR="88900">
                    <a:solidFill>
                      <a:srgbClr val="FFFFFF"/>
                    </a:solidFill>
                  </a:tcPr>
                </a:tc>
                <a:tc>
                  <a:txBody>
                    <a:bodyPr/>
                    <a:lstStyle/>
                    <a:p>
                      <a:pPr>
                        <a:defRPr sz="1250">
                          <a:solidFill>
                            <a:srgbClr val="262626"/>
                          </a:solidFill>
                          <a:latin typeface="Calibri"/>
                        </a:defRPr>
                      </a:pPr>
                      <a:r>
                        <a:t>GitHub Actions → GHCR</a:t>
                      </a:r>
                    </a:p>
                  </a:txBody>
                  <a:tcPr anchor="ctr" marT="25400" marB="25400" marL="88900" marR="88900">
                    <a:solidFill>
                      <a:srgbClr val="FFFFFF"/>
                    </a:solidFill>
                  </a:tcPr>
                </a:tc>
              </a:tr>
              <a:tr h="457200">
                <a:tc>
                  <a:txBody>
                    <a:bodyPr/>
                    <a:lstStyle/>
                    <a:p>
                      <a:pPr>
                        <a:defRPr sz="1250">
                          <a:solidFill>
                            <a:srgbClr val="262626"/>
                          </a:solidFill>
                          <a:latin typeface="Calibri"/>
                        </a:defRPr>
                      </a:pPr>
                      <a:r>
                        <a:t>Dev OS</a:t>
                      </a:r>
                    </a:p>
                  </a:txBody>
                  <a:tcPr anchor="ctr" marT="25400" marB="25400" marL="88900" marR="88900">
                    <a:solidFill>
                      <a:srgbClr val="ECE6FB"/>
                    </a:solidFill>
                  </a:tcPr>
                </a:tc>
                <a:tc>
                  <a:txBody>
                    <a:bodyPr/>
                    <a:lstStyle/>
                    <a:p>
                      <a:pPr>
                        <a:defRPr sz="1250">
                          <a:solidFill>
                            <a:srgbClr val="262626"/>
                          </a:solidFill>
                          <a:latin typeface="Calibri"/>
                        </a:defRPr>
                      </a:pPr>
                      <a:r>
                        <a:t>Windows 11</a:t>
                      </a:r>
                    </a:p>
                  </a:txBody>
                  <a:tcPr anchor="ctr" marT="25400" marB="25400" marL="88900" marR="88900">
                    <a:solidFill>
                      <a:srgbClr val="ECE6FB"/>
                    </a:solidFill>
                  </a:tcPr>
                </a:tc>
              </a:tr>
            </a:tbl>
          </a:graphicData>
        </a:graphic>
      </p:graphicFrame>
      <p:sp>
        <p:nvSpPr>
          <p:cNvPr id="6" name="TextBox 5"/>
          <p:cNvSpPr txBox="1"/>
          <p:nvPr/>
        </p:nvSpPr>
        <p:spPr>
          <a:xfrm>
            <a:off x="548640" y="5989320"/>
            <a:ext cx="11064240" cy="548640"/>
          </a:xfrm>
          <a:prstGeom prst="rect">
            <a:avLst/>
          </a:prstGeom>
          <a:noFill/>
        </p:spPr>
        <p:txBody>
          <a:bodyPr wrap="none">
            <a:spAutoFit/>
          </a:bodyPr>
          <a:lstStyle/>
          <a:p>
            <a:pPr>
              <a:defRPr sz="1200" i="1">
                <a:solidFill>
                  <a:srgbClr val="595959"/>
                </a:solidFill>
                <a:latin typeface="Calibri"/>
              </a:defRPr>
            </a:pPr>
            <a:r>
              <a:t>CI runs the full Testcontainers suite and coverage gate before any image is published — the registry only ever holds a green build.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731520"/>
          </a:xfrm>
          <a:prstGeom prst="rect">
            <a:avLst/>
          </a:prstGeom>
          <a:noFill/>
        </p:spPr>
        <p:txBody>
          <a:bodyPr wrap="none">
            <a:spAutoFit/>
          </a:bodyPr>
          <a:lstStyle/>
          <a:p>
            <a:pPr>
              <a:defRPr sz="2700" b="1">
                <a:solidFill>
                  <a:srgbClr val="5F1EBE"/>
                </a:solidFill>
                <a:latin typeface="Calibri Light"/>
              </a:defRPr>
            </a:pPr>
            <a:r>
              <a:t>3. API Specification — Endpoints</a:t>
            </a:r>
          </a:p>
        </p:txBody>
      </p:sp>
      <p:sp>
        <p:nvSpPr>
          <p:cNvPr id="3" name="Rectangle 2"/>
          <p:cNvSpPr/>
          <p:nvPr/>
        </p:nvSpPr>
        <p:spPr>
          <a:xfrm>
            <a:off x="530352" y="1024128"/>
            <a:ext cx="2194560" cy="38100"/>
          </a:xfrm>
          <a:prstGeom prst="rect">
            <a:avLst/>
          </a:prstGeom>
          <a:solidFill>
            <a:srgbClr val="5F1E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417320"/>
          <a:ext cx="11109960" cy="2834640"/>
        </p:xfrm>
        <a:graphic>
          <a:graphicData uri="http://schemas.openxmlformats.org/drawingml/2006/table">
            <a:tbl>
              <a:tblPr firstRow="1" bandRow="1">
                <a:tableStyleId>{5C22544A-7EE6-4342-B048-85BDC9FD1C3A}</a:tableStyleId>
              </a:tblPr>
              <a:tblGrid>
                <a:gridCol w="1188720"/>
                <a:gridCol w="3063240"/>
                <a:gridCol w="6858000"/>
              </a:tblGrid>
              <a:tr h="566928">
                <a:tc>
                  <a:txBody>
                    <a:bodyPr/>
                    <a:lstStyle/>
                    <a:p>
                      <a:pPr>
                        <a:defRPr sz="1300" b="1">
                          <a:solidFill>
                            <a:srgbClr val="FFFFFF"/>
                          </a:solidFill>
                          <a:latin typeface="Calibri"/>
                        </a:defRPr>
                      </a:pPr>
                      <a:r>
                        <a:t>Method</a:t>
                      </a:r>
                    </a:p>
                  </a:txBody>
                  <a:tcPr anchor="ctr" marT="25400" marB="25400" marL="88900" marR="88900">
                    <a:solidFill>
                      <a:srgbClr val="5F1EBE"/>
                    </a:solidFill>
                  </a:tcPr>
                </a:tc>
                <a:tc>
                  <a:txBody>
                    <a:bodyPr/>
                    <a:lstStyle/>
                    <a:p>
                      <a:pPr>
                        <a:defRPr sz="1300" b="1">
                          <a:solidFill>
                            <a:srgbClr val="FFFFFF"/>
                          </a:solidFill>
                          <a:latin typeface="Calibri"/>
                        </a:defRPr>
                      </a:pPr>
                      <a:r>
                        <a:t>Path</a:t>
                      </a:r>
                    </a:p>
                  </a:txBody>
                  <a:tcPr anchor="ctr" marT="25400" marB="25400" marL="88900" marR="88900">
                    <a:solidFill>
                      <a:srgbClr val="5F1EBE"/>
                    </a:solidFill>
                  </a:tcPr>
                </a:tc>
                <a:tc>
                  <a:txBody>
                    <a:bodyPr/>
                    <a:lstStyle/>
                    <a:p>
                      <a:pPr>
                        <a:defRPr sz="1300" b="1">
                          <a:solidFill>
                            <a:srgbClr val="FFFFFF"/>
                          </a:solidFill>
                          <a:latin typeface="Calibri"/>
                        </a:defRPr>
                      </a:pPr>
                      <a:r>
                        <a:t>Purpose</a:t>
                      </a:r>
                    </a:p>
                  </a:txBody>
                  <a:tcPr anchor="ctr" marT="25400" marB="25400" marL="88900" marR="88900">
                    <a:solidFill>
                      <a:srgbClr val="5F1EBE"/>
                    </a:solidFill>
                  </a:tcPr>
                </a:tc>
              </a:tr>
              <a:tr h="566928">
                <a:tc>
                  <a:txBody>
                    <a:bodyPr/>
                    <a:lstStyle/>
                    <a:p>
                      <a:pPr>
                        <a:defRPr sz="1300">
                          <a:solidFill>
                            <a:srgbClr val="262626"/>
                          </a:solidFill>
                          <a:latin typeface="Calibri"/>
                        </a:defRPr>
                      </a:pPr>
                      <a:r>
                        <a:t>GET</a:t>
                      </a:r>
                    </a:p>
                  </a:txBody>
                  <a:tcPr anchor="ctr" marT="25400" marB="25400" marL="88900" marR="88900">
                    <a:solidFill>
                      <a:srgbClr val="FFFFFF"/>
                    </a:solidFill>
                  </a:tcPr>
                </a:tc>
                <a:tc>
                  <a:txBody>
                    <a:bodyPr/>
                    <a:lstStyle/>
                    <a:p>
                      <a:pPr>
                        <a:defRPr sz="1300">
                          <a:solidFill>
                            <a:srgbClr val="262626"/>
                          </a:solidFill>
                          <a:latin typeface="Calibri"/>
                        </a:defRPr>
                      </a:pPr>
                      <a:r>
                        <a:t>/api/v1/policies</a:t>
                      </a:r>
                    </a:p>
                  </a:txBody>
                  <a:tcPr anchor="ctr" marT="25400" marB="25400" marL="88900" marR="88900">
                    <a:solidFill>
                      <a:srgbClr val="FFFFFF"/>
                    </a:solidFill>
                  </a:tcPr>
                </a:tc>
                <a:tc>
                  <a:txBody>
                    <a:bodyPr/>
                    <a:lstStyle/>
                    <a:p>
                      <a:pPr>
                        <a:defRPr sz="1300">
                          <a:solidFill>
                            <a:srgbClr val="262626"/>
                          </a:solidFill>
                          <a:latin typeface="Calibri"/>
                        </a:defRPr>
                      </a:pPr>
                      <a:r>
                        <a:t>List policies — filter, sort, search, pagination (Spring Page)</a:t>
                      </a:r>
                    </a:p>
                  </a:txBody>
                  <a:tcPr anchor="ctr" marT="25400" marB="25400" marL="88900" marR="88900">
                    <a:solidFill>
                      <a:srgbClr val="FFFFFF"/>
                    </a:solidFill>
                  </a:tcPr>
                </a:tc>
              </a:tr>
              <a:tr h="566928">
                <a:tc>
                  <a:txBody>
                    <a:bodyPr/>
                    <a:lstStyle/>
                    <a:p>
                      <a:pPr>
                        <a:defRPr sz="1300">
                          <a:solidFill>
                            <a:srgbClr val="262626"/>
                          </a:solidFill>
                          <a:latin typeface="Calibri"/>
                        </a:defRPr>
                      </a:pPr>
                      <a:r>
                        <a:t>GET</a:t>
                      </a:r>
                    </a:p>
                  </a:txBody>
                  <a:tcPr anchor="ctr" marT="25400" marB="25400" marL="88900" marR="88900">
                    <a:solidFill>
                      <a:srgbClr val="ECE6FB"/>
                    </a:solidFill>
                  </a:tcPr>
                </a:tc>
                <a:tc>
                  <a:txBody>
                    <a:bodyPr/>
                    <a:lstStyle/>
                    <a:p>
                      <a:pPr>
                        <a:defRPr sz="1300">
                          <a:solidFill>
                            <a:srgbClr val="262626"/>
                          </a:solidFill>
                          <a:latin typeface="Calibri"/>
                        </a:defRPr>
                      </a:pPr>
                      <a:r>
                        <a:t>/api/v1/policies/{id}</a:t>
                      </a:r>
                    </a:p>
                  </a:txBody>
                  <a:tcPr anchor="ctr" marT="25400" marB="25400" marL="88900" marR="88900">
                    <a:solidFill>
                      <a:srgbClr val="ECE6FB"/>
                    </a:solidFill>
                  </a:tcPr>
                </a:tc>
                <a:tc>
                  <a:txBody>
                    <a:bodyPr/>
                    <a:lstStyle/>
                    <a:p>
                      <a:pPr>
                        <a:defRPr sz="1300">
                          <a:solidFill>
                            <a:srgbClr val="262626"/>
                          </a:solidFill>
                          <a:latin typeface="Calibri"/>
                        </a:defRPr>
                      </a:pPr>
                      <a:r>
                        <a:t>Fetch a single policy by UUID (404 if unknown)</a:t>
                      </a:r>
                    </a:p>
                  </a:txBody>
                  <a:tcPr anchor="ctr" marT="25400" marB="25400" marL="88900" marR="88900">
                    <a:solidFill>
                      <a:srgbClr val="ECE6FB"/>
                    </a:solidFill>
                  </a:tcPr>
                </a:tc>
              </a:tr>
              <a:tr h="566928">
                <a:tc>
                  <a:txBody>
                    <a:bodyPr/>
                    <a:lstStyle/>
                    <a:p>
                      <a:pPr>
                        <a:defRPr sz="1300">
                          <a:solidFill>
                            <a:srgbClr val="262626"/>
                          </a:solidFill>
                          <a:latin typeface="Calibri"/>
                        </a:defRPr>
                      </a:pPr>
                      <a:r>
                        <a:t>PATCH</a:t>
                      </a:r>
                    </a:p>
                  </a:txBody>
                  <a:tcPr anchor="ctr" marT="25400" marB="25400" marL="88900" marR="88900">
                    <a:solidFill>
                      <a:srgbClr val="FFFFFF"/>
                    </a:solidFill>
                  </a:tcPr>
                </a:tc>
                <a:tc>
                  <a:txBody>
                    <a:bodyPr/>
                    <a:lstStyle/>
                    <a:p>
                      <a:pPr>
                        <a:defRPr sz="1300">
                          <a:solidFill>
                            <a:srgbClr val="262626"/>
                          </a:solidFill>
                          <a:latin typeface="Calibri"/>
                        </a:defRPr>
                      </a:pPr>
                      <a:r>
                        <a:t>/api/v1/policies/flag</a:t>
                      </a:r>
                    </a:p>
                  </a:txBody>
                  <a:tcPr anchor="ctr" marT="25400" marB="25400" marL="88900" marR="88900">
                    <a:solidFill>
                      <a:srgbClr val="FFFFFF"/>
                    </a:solidFill>
                  </a:tcPr>
                </a:tc>
                <a:tc>
                  <a:txBody>
                    <a:bodyPr/>
                    <a:lstStyle/>
                    <a:p>
                      <a:pPr>
                        <a:defRPr sz="1300">
                          <a:solidFill>
                            <a:srgbClr val="262626"/>
                          </a:solidFill>
                          <a:latin typeface="Calibri"/>
                        </a:defRPr>
                      </a:pPr>
                      <a:r>
                        <a:t>Bulk-flag policies for review — body { policyIds: [uuid] }</a:t>
                      </a:r>
                    </a:p>
                  </a:txBody>
                  <a:tcPr anchor="ctr" marT="25400" marB="25400" marL="88900" marR="88900">
                    <a:solidFill>
                      <a:srgbClr val="FFFFFF"/>
                    </a:solidFill>
                  </a:tcPr>
                </a:tc>
              </a:tr>
              <a:tr h="566928">
                <a:tc>
                  <a:txBody>
                    <a:bodyPr/>
                    <a:lstStyle/>
                    <a:p>
                      <a:pPr>
                        <a:defRPr sz="1300">
                          <a:solidFill>
                            <a:srgbClr val="262626"/>
                          </a:solidFill>
                          <a:latin typeface="Calibri"/>
                        </a:defRPr>
                      </a:pPr>
                      <a:r>
                        <a:t>GET</a:t>
                      </a:r>
                    </a:p>
                  </a:txBody>
                  <a:tcPr anchor="ctr" marT="25400" marB="25400" marL="88900" marR="88900">
                    <a:solidFill>
                      <a:srgbClr val="ECE6FB"/>
                    </a:solidFill>
                  </a:tcPr>
                </a:tc>
                <a:tc>
                  <a:txBody>
                    <a:bodyPr/>
                    <a:lstStyle/>
                    <a:p>
                      <a:pPr>
                        <a:defRPr sz="1300">
                          <a:solidFill>
                            <a:srgbClr val="262626"/>
                          </a:solidFill>
                          <a:latin typeface="Calibri"/>
                        </a:defRPr>
                      </a:pPr>
                      <a:r>
                        <a:t>/api/v1/policies/summary</a:t>
                      </a:r>
                    </a:p>
                  </a:txBody>
                  <a:tcPr anchor="ctr" marT="25400" marB="25400" marL="88900" marR="88900">
                    <a:solidFill>
                      <a:srgbClr val="ECE6FB"/>
                    </a:solidFill>
                  </a:tcPr>
                </a:tc>
                <a:tc>
                  <a:txBody>
                    <a:bodyPr/>
                    <a:lstStyle/>
                    <a:p>
                      <a:pPr>
                        <a:defRPr sz="1300">
                          <a:solidFill>
                            <a:srgbClr val="262626"/>
                          </a:solidFill>
                          <a:latin typeface="Calibri"/>
                        </a:defRPr>
                      </a:pPr>
                      <a:r>
                        <a:t>Counts by status, premium by line of business, expiring-soon count</a:t>
                      </a:r>
                    </a:p>
                  </a:txBody>
                  <a:tcPr anchor="ctr" marT="25400" marB="25400" marL="88900" marR="88900">
                    <a:solidFill>
                      <a:srgbClr val="ECE6FB"/>
                    </a:solidFill>
                  </a:tcPr>
                </a:tc>
              </a:tr>
            </a:tbl>
          </a:graphicData>
        </a:graphic>
      </p:graphicFrame>
      <p:sp>
        <p:nvSpPr>
          <p:cNvPr id="5" name="Rounded Rectangle 4"/>
          <p:cNvSpPr/>
          <p:nvPr/>
        </p:nvSpPr>
        <p:spPr>
          <a:xfrm>
            <a:off x="548640" y="4206240"/>
            <a:ext cx="11109960" cy="1417320"/>
          </a:xfrm>
          <a:prstGeom prst="roundRect">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101600" bIns="76200"/>
          <a:lstStyle/>
          <a:p>
            <a:pPr algn="ctr">
              <a:spcAft>
                <a:spcPts val="400"/>
              </a:spcAft>
              <a:defRPr sz="1500" b="1">
                <a:solidFill>
                  <a:srgbClr val="5F1EBE"/>
                </a:solidFill>
                <a:latin typeface="Calibri Light"/>
              </a:defRPr>
            </a:pPr>
            <a:r>
              <a:t>Contract-first</a:t>
            </a:r>
          </a:p>
          <a:p>
            <a:pPr>
              <a:spcAft>
                <a:spcPts val="300"/>
              </a:spcAft>
              <a:defRPr sz="1200">
                <a:solidFill>
                  <a:srgbClr val="262626"/>
                </a:solidFill>
                <a:latin typeface="Calibri"/>
              </a:defRPr>
            </a:pPr>
            <a:r>
              <a:t>•  openapi.yaml is the single source of truth, committed under src/main/resources/static</a:t>
            </a:r>
          </a:p>
          <a:p>
            <a:pPr>
              <a:spcAft>
                <a:spcPts val="300"/>
              </a:spcAft>
              <a:defRPr sz="1200">
                <a:solidFill>
                  <a:srgbClr val="262626"/>
                </a:solidFill>
                <a:latin typeface="Calibri"/>
              </a:defRPr>
            </a:pPr>
            <a:r>
              <a:t>•  SpringDoc serves it live via Swagger UI at /swagger-ui/index.html</a:t>
            </a:r>
          </a:p>
          <a:p>
            <a:pPr>
              <a:spcAft>
                <a:spcPts val="300"/>
              </a:spcAft>
              <a:defRPr sz="1200">
                <a:solidFill>
                  <a:srgbClr val="262626"/>
                </a:solidFill>
                <a:latin typeface="Calibri"/>
              </a:defRPr>
            </a:pPr>
            <a:r>
              <a:t>•  Responses format enums for display (e.g. ACCIDENT_AND_HEALTH → A&amp;H; ACTIVE → Active)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731520"/>
          </a:xfrm>
          <a:prstGeom prst="rect">
            <a:avLst/>
          </a:prstGeom>
          <a:noFill/>
        </p:spPr>
        <p:txBody>
          <a:bodyPr wrap="none">
            <a:spAutoFit/>
          </a:bodyPr>
          <a:lstStyle/>
          <a:p>
            <a:pPr>
              <a:defRPr sz="2700" b="1">
                <a:solidFill>
                  <a:srgbClr val="5F1EBE"/>
                </a:solidFill>
                <a:latin typeface="Calibri Light"/>
              </a:defRPr>
            </a:pPr>
            <a:r>
              <a:t>3. API Specification — Query Parameters &amp; Errors</a:t>
            </a:r>
          </a:p>
        </p:txBody>
      </p:sp>
      <p:sp>
        <p:nvSpPr>
          <p:cNvPr id="3" name="Rectangle 2"/>
          <p:cNvSpPr/>
          <p:nvPr/>
        </p:nvSpPr>
        <p:spPr>
          <a:xfrm>
            <a:off x="530352" y="1024128"/>
            <a:ext cx="2194560" cy="38100"/>
          </a:xfrm>
          <a:prstGeom prst="rect">
            <a:avLst/>
          </a:prstGeom>
          <a:solidFill>
            <a:srgbClr val="5F1E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417320"/>
          <a:ext cx="6903720" cy="3364992"/>
        </p:xfrm>
        <a:graphic>
          <a:graphicData uri="http://schemas.openxmlformats.org/drawingml/2006/table">
            <a:tbl>
              <a:tblPr firstRow="1" bandRow="1">
                <a:tableStyleId>{5C22544A-7EE6-4342-B048-85BDC9FD1C3A}</a:tableStyleId>
              </a:tblPr>
              <a:tblGrid>
                <a:gridCol w="2148840"/>
                <a:gridCol w="4754880"/>
              </a:tblGrid>
              <a:tr h="420624">
                <a:tc>
                  <a:txBody>
                    <a:bodyPr/>
                    <a:lstStyle/>
                    <a:p>
                      <a:pPr>
                        <a:defRPr sz="1150" b="1">
                          <a:solidFill>
                            <a:srgbClr val="FFFFFF"/>
                          </a:solidFill>
                          <a:latin typeface="Calibri"/>
                        </a:defRPr>
                      </a:pPr>
                      <a:r>
                        <a:t>Parameter</a:t>
                      </a:r>
                    </a:p>
                  </a:txBody>
                  <a:tcPr anchor="ctr" marT="25400" marB="25400" marL="88900" marR="88900">
                    <a:solidFill>
                      <a:srgbClr val="5F1EBE"/>
                    </a:solidFill>
                  </a:tcPr>
                </a:tc>
                <a:tc>
                  <a:txBody>
                    <a:bodyPr/>
                    <a:lstStyle/>
                    <a:p>
                      <a:pPr>
                        <a:defRPr sz="1150" b="1">
                          <a:solidFill>
                            <a:srgbClr val="FFFFFF"/>
                          </a:solidFill>
                          <a:latin typeface="Calibri"/>
                        </a:defRPr>
                      </a:pPr>
                      <a:r>
                        <a:t>Allowed / format</a:t>
                      </a:r>
                    </a:p>
                  </a:txBody>
                  <a:tcPr anchor="ctr" marT="25400" marB="25400" marL="88900" marR="88900">
                    <a:solidFill>
                      <a:srgbClr val="5F1EBE"/>
                    </a:solidFill>
                  </a:tcPr>
                </a:tc>
              </a:tr>
              <a:tr h="420624">
                <a:tc>
                  <a:txBody>
                    <a:bodyPr/>
                    <a:lstStyle/>
                    <a:p>
                      <a:pPr>
                        <a:defRPr sz="1150">
                          <a:solidFill>
                            <a:srgbClr val="262626"/>
                          </a:solidFill>
                          <a:latin typeface="Calibri"/>
                        </a:defRPr>
                      </a:pPr>
                      <a:r>
                        <a:t>status</a:t>
                      </a:r>
                    </a:p>
                  </a:txBody>
                  <a:tcPr anchor="ctr" marT="25400" marB="25400" marL="88900" marR="88900">
                    <a:solidFill>
                      <a:srgbClr val="FFFFFF"/>
                    </a:solidFill>
                  </a:tcPr>
                </a:tc>
                <a:tc>
                  <a:txBody>
                    <a:bodyPr/>
                    <a:lstStyle/>
                    <a:p>
                      <a:pPr>
                        <a:defRPr sz="1150">
                          <a:solidFill>
                            <a:srgbClr val="262626"/>
                          </a:solidFill>
                          <a:latin typeface="Calibri"/>
                        </a:defRPr>
                      </a:pPr>
                      <a:r>
                        <a:t>ACTIVE · EXPIRED · PENDING · CANCELLED</a:t>
                      </a:r>
                    </a:p>
                  </a:txBody>
                  <a:tcPr anchor="ctr" marT="25400" marB="25400" marL="88900" marR="88900">
                    <a:solidFill>
                      <a:srgbClr val="FFFFFF"/>
                    </a:solidFill>
                  </a:tcPr>
                </a:tc>
              </a:tr>
              <a:tr h="420624">
                <a:tc>
                  <a:txBody>
                    <a:bodyPr/>
                    <a:lstStyle/>
                    <a:p>
                      <a:pPr>
                        <a:defRPr sz="1150">
                          <a:solidFill>
                            <a:srgbClr val="262626"/>
                          </a:solidFill>
                          <a:latin typeface="Calibri"/>
                        </a:defRPr>
                      </a:pPr>
                      <a:r>
                        <a:t>region</a:t>
                      </a:r>
                    </a:p>
                  </a:txBody>
                  <a:tcPr anchor="ctr" marT="25400" marB="25400" marL="88900" marR="88900">
                    <a:solidFill>
                      <a:srgbClr val="ECE6FB"/>
                    </a:solidFill>
                  </a:tcPr>
                </a:tc>
                <a:tc>
                  <a:txBody>
                    <a:bodyPr/>
                    <a:lstStyle/>
                    <a:p>
                      <a:pPr>
                        <a:defRPr sz="1150">
                          <a:solidFill>
                            <a:srgbClr val="262626"/>
                          </a:solidFill>
                          <a:latin typeface="Calibri"/>
                        </a:defRPr>
                      </a:pPr>
                      <a:r>
                        <a:t>8 APAC regions</a:t>
                      </a:r>
                    </a:p>
                  </a:txBody>
                  <a:tcPr anchor="ctr" marT="25400" marB="25400" marL="88900" marR="88900">
                    <a:solidFill>
                      <a:srgbClr val="ECE6FB"/>
                    </a:solidFill>
                  </a:tcPr>
                </a:tc>
              </a:tr>
              <a:tr h="420624">
                <a:tc>
                  <a:txBody>
                    <a:bodyPr/>
                    <a:lstStyle/>
                    <a:p>
                      <a:pPr>
                        <a:defRPr sz="1150">
                          <a:solidFill>
                            <a:srgbClr val="262626"/>
                          </a:solidFill>
                          <a:latin typeface="Calibri"/>
                        </a:defRPr>
                      </a:pPr>
                      <a:r>
                        <a:t>lineOfBusiness</a:t>
                      </a:r>
                    </a:p>
                  </a:txBody>
                  <a:tcPr anchor="ctr" marT="25400" marB="25400" marL="88900" marR="88900">
                    <a:solidFill>
                      <a:srgbClr val="FFFFFF"/>
                    </a:solidFill>
                  </a:tcPr>
                </a:tc>
                <a:tc>
                  <a:txBody>
                    <a:bodyPr/>
                    <a:lstStyle/>
                    <a:p>
                      <a:pPr>
                        <a:defRPr sz="1150">
                          <a:solidFill>
                            <a:srgbClr val="262626"/>
                          </a:solidFill>
                          <a:latin typeface="Calibri"/>
                        </a:defRPr>
                      </a:pPr>
                      <a:r>
                        <a:t>PROPERTY · CASUALTY · ACCIDENT_AND_HEALTH · MARINE</a:t>
                      </a:r>
                    </a:p>
                  </a:txBody>
                  <a:tcPr anchor="ctr" marT="25400" marB="25400" marL="88900" marR="88900">
                    <a:solidFill>
                      <a:srgbClr val="FFFFFF"/>
                    </a:solidFill>
                  </a:tcPr>
                </a:tc>
              </a:tr>
              <a:tr h="420624">
                <a:tc>
                  <a:txBody>
                    <a:bodyPr/>
                    <a:lstStyle/>
                    <a:p>
                      <a:pPr>
                        <a:defRPr sz="1150">
                          <a:solidFill>
                            <a:srgbClr val="262626"/>
                          </a:solidFill>
                          <a:latin typeface="Calibri"/>
                        </a:defRPr>
                      </a:pPr>
                      <a:r>
                        <a:t>effectiveDateFrom / To</a:t>
                      </a:r>
                    </a:p>
                  </a:txBody>
                  <a:tcPr anchor="ctr" marT="25400" marB="25400" marL="88900" marR="88900">
                    <a:solidFill>
                      <a:srgbClr val="ECE6FB"/>
                    </a:solidFill>
                  </a:tcPr>
                </a:tc>
                <a:tc>
                  <a:txBody>
                    <a:bodyPr/>
                    <a:lstStyle/>
                    <a:p>
                      <a:pPr>
                        <a:defRPr sz="1150">
                          <a:solidFill>
                            <a:srgbClr val="262626"/>
                          </a:solidFill>
                          <a:latin typeface="Calibri"/>
                        </a:defRPr>
                      </a:pPr>
                      <a:r>
                        <a:t>yyyy-MM-dd (range on effective date)</a:t>
                      </a:r>
                    </a:p>
                  </a:txBody>
                  <a:tcPr anchor="ctr" marT="25400" marB="25400" marL="88900" marR="88900">
                    <a:solidFill>
                      <a:srgbClr val="ECE6FB"/>
                    </a:solidFill>
                  </a:tcPr>
                </a:tc>
              </a:tr>
              <a:tr h="420624">
                <a:tc>
                  <a:txBody>
                    <a:bodyPr/>
                    <a:lstStyle/>
                    <a:p>
                      <a:pPr>
                        <a:defRPr sz="1150">
                          <a:solidFill>
                            <a:srgbClr val="262626"/>
                          </a:solidFill>
                          <a:latin typeface="Calibri"/>
                        </a:defRPr>
                      </a:pPr>
                      <a:r>
                        <a:t>search</a:t>
                      </a:r>
                    </a:p>
                  </a:txBody>
                  <a:tcPr anchor="ctr" marT="25400" marB="25400" marL="88900" marR="88900">
                    <a:solidFill>
                      <a:srgbClr val="FFFFFF"/>
                    </a:solidFill>
                  </a:tcPr>
                </a:tc>
                <a:tc>
                  <a:txBody>
                    <a:bodyPr/>
                    <a:lstStyle/>
                    <a:p>
                      <a:pPr>
                        <a:defRPr sz="1150">
                          <a:solidFill>
                            <a:srgbClr val="262626"/>
                          </a:solidFill>
                          <a:latin typeface="Calibri"/>
                        </a:defRPr>
                      </a:pPr>
                      <a:r>
                        <a:t>policyNumber + policyholderName + underwriter</a:t>
                      </a:r>
                    </a:p>
                  </a:txBody>
                  <a:tcPr anchor="ctr" marT="25400" marB="25400" marL="88900" marR="88900">
                    <a:solidFill>
                      <a:srgbClr val="FFFFFF"/>
                    </a:solidFill>
                  </a:tcPr>
                </a:tc>
              </a:tr>
              <a:tr h="420624">
                <a:tc>
                  <a:txBody>
                    <a:bodyPr/>
                    <a:lstStyle/>
                    <a:p>
                      <a:pPr>
                        <a:defRPr sz="1150">
                          <a:solidFill>
                            <a:srgbClr val="262626"/>
                          </a:solidFill>
                          <a:latin typeface="Calibri"/>
                        </a:defRPr>
                      </a:pPr>
                      <a:r>
                        <a:t>page / size</a:t>
                      </a:r>
                    </a:p>
                  </a:txBody>
                  <a:tcPr anchor="ctr" marT="25400" marB="25400" marL="88900" marR="88900">
                    <a:solidFill>
                      <a:srgbClr val="ECE6FB"/>
                    </a:solidFill>
                  </a:tcPr>
                </a:tc>
                <a:tc>
                  <a:txBody>
                    <a:bodyPr/>
                    <a:lstStyle/>
                    <a:p>
                      <a:pPr>
                        <a:defRPr sz="1150">
                          <a:solidFill>
                            <a:srgbClr val="262626"/>
                          </a:solidFill>
                          <a:latin typeface="Calibri"/>
                        </a:defRPr>
                      </a:pPr>
                      <a:r>
                        <a:t>default 0 / 10</a:t>
                      </a:r>
                    </a:p>
                  </a:txBody>
                  <a:tcPr anchor="ctr" marT="25400" marB="25400" marL="88900" marR="88900">
                    <a:solidFill>
                      <a:srgbClr val="ECE6FB"/>
                    </a:solidFill>
                  </a:tcPr>
                </a:tc>
              </a:tr>
              <a:tr h="420624">
                <a:tc>
                  <a:txBody>
                    <a:bodyPr/>
                    <a:lstStyle/>
                    <a:p>
                      <a:pPr>
                        <a:defRPr sz="1150">
                          <a:solidFill>
                            <a:srgbClr val="262626"/>
                          </a:solidFill>
                          <a:latin typeface="Calibri"/>
                        </a:defRPr>
                      </a:pPr>
                      <a:r>
                        <a:t>sort</a:t>
                      </a:r>
                    </a:p>
                  </a:txBody>
                  <a:tcPr anchor="ctr" marT="25400" marB="25400" marL="88900" marR="88900">
                    <a:solidFill>
                      <a:srgbClr val="FFFFFF"/>
                    </a:solidFill>
                  </a:tcPr>
                </a:tc>
                <a:tc>
                  <a:txBody>
                    <a:bodyPr/>
                    <a:lstStyle/>
                    <a:p>
                      <a:pPr>
                        <a:defRPr sz="1150">
                          <a:solidFill>
                            <a:srgbClr val="262626"/>
                          </a:solidFill>
                          <a:latin typeface="Calibri"/>
                        </a:defRPr>
                      </a:pPr>
                      <a:r>
                        <a:t>default effectiveDate,desc</a:t>
                      </a:r>
                    </a:p>
                  </a:txBody>
                  <a:tcPr anchor="ctr" marT="25400" marB="25400" marL="88900" marR="88900">
                    <a:solidFill>
                      <a:srgbClr val="FFFFFF"/>
                    </a:solidFill>
                  </a:tcPr>
                </a:tc>
              </a:tr>
            </a:tbl>
          </a:graphicData>
        </a:graphic>
      </p:graphicFrame>
      <p:graphicFrame>
        <p:nvGraphicFramePr>
          <p:cNvPr id="5" name="Table 4"/>
          <p:cNvGraphicFramePr>
            <a:graphicFrameLocks noGrp="1"/>
          </p:cNvGraphicFramePr>
          <p:nvPr/>
        </p:nvGraphicFramePr>
        <p:xfrm>
          <a:off x="7726679" y="1417320"/>
          <a:ext cx="3931920" cy="2011680"/>
        </p:xfrm>
        <a:graphic>
          <a:graphicData uri="http://schemas.openxmlformats.org/drawingml/2006/table">
            <a:tbl>
              <a:tblPr firstRow="1" bandRow="1">
                <a:tableStyleId>{5C22544A-7EE6-4342-B048-85BDC9FD1C3A}</a:tableStyleId>
              </a:tblPr>
              <a:tblGrid>
                <a:gridCol w="1005840"/>
                <a:gridCol w="2926080"/>
              </a:tblGrid>
              <a:tr h="502920">
                <a:tc>
                  <a:txBody>
                    <a:bodyPr/>
                    <a:lstStyle/>
                    <a:p>
                      <a:pPr>
                        <a:defRPr sz="1200" b="1">
                          <a:solidFill>
                            <a:srgbClr val="FFFFFF"/>
                          </a:solidFill>
                          <a:latin typeface="Calibri"/>
                        </a:defRPr>
                      </a:pPr>
                      <a:r>
                        <a:t>HTTP</a:t>
                      </a:r>
                    </a:p>
                  </a:txBody>
                  <a:tcPr anchor="ctr" marT="25400" marB="25400" marL="88900" marR="88900">
                    <a:solidFill>
                      <a:srgbClr val="5F1EBE"/>
                    </a:solidFill>
                  </a:tcPr>
                </a:tc>
                <a:tc>
                  <a:txBody>
                    <a:bodyPr/>
                    <a:lstStyle/>
                    <a:p>
                      <a:pPr>
                        <a:defRPr sz="1200" b="1">
                          <a:solidFill>
                            <a:srgbClr val="FFFFFF"/>
                          </a:solidFill>
                          <a:latin typeface="Calibri"/>
                        </a:defRPr>
                      </a:pPr>
                      <a:r>
                        <a:t>When</a:t>
                      </a:r>
                    </a:p>
                  </a:txBody>
                  <a:tcPr anchor="ctr" marT="25400" marB="25400" marL="88900" marR="88900">
                    <a:solidFill>
                      <a:srgbClr val="5F1EBE"/>
                    </a:solidFill>
                  </a:tcPr>
                </a:tc>
              </a:tr>
              <a:tr h="502920">
                <a:tc>
                  <a:txBody>
                    <a:bodyPr/>
                    <a:lstStyle/>
                    <a:p>
                      <a:pPr>
                        <a:defRPr sz="1200">
                          <a:solidFill>
                            <a:srgbClr val="262626"/>
                          </a:solidFill>
                          <a:latin typeface="Calibri"/>
                        </a:defRPr>
                      </a:pPr>
                      <a:r>
                        <a:t>404</a:t>
                      </a:r>
                    </a:p>
                  </a:txBody>
                  <a:tcPr anchor="ctr" marT="25400" marB="25400" marL="88900" marR="88900">
                    <a:solidFill>
                      <a:srgbClr val="FFFFFF"/>
                    </a:solidFill>
                  </a:tcPr>
                </a:tc>
                <a:tc>
                  <a:txBody>
                    <a:bodyPr/>
                    <a:lstStyle/>
                    <a:p>
                      <a:pPr>
                        <a:defRPr sz="1200">
                          <a:solidFill>
                            <a:srgbClr val="262626"/>
                          </a:solidFill>
                          <a:latin typeface="Calibri"/>
                        </a:defRPr>
                      </a:pPr>
                      <a:r>
                        <a:t>unknown policy id</a:t>
                      </a:r>
                    </a:p>
                  </a:txBody>
                  <a:tcPr anchor="ctr" marT="25400" marB="25400" marL="88900" marR="88900">
                    <a:solidFill>
                      <a:srgbClr val="FFFFFF"/>
                    </a:solidFill>
                  </a:tcPr>
                </a:tc>
              </a:tr>
              <a:tr h="502920">
                <a:tc>
                  <a:txBody>
                    <a:bodyPr/>
                    <a:lstStyle/>
                    <a:p>
                      <a:pPr>
                        <a:defRPr sz="1200">
                          <a:solidFill>
                            <a:srgbClr val="262626"/>
                          </a:solidFill>
                          <a:latin typeface="Calibri"/>
                        </a:defRPr>
                      </a:pPr>
                      <a:r>
                        <a:t>400</a:t>
                      </a:r>
                    </a:p>
                  </a:txBody>
                  <a:tcPr anchor="ctr" marT="25400" marB="25400" marL="88900" marR="88900">
                    <a:solidFill>
                      <a:srgbClr val="ECE6FB"/>
                    </a:solidFill>
                  </a:tcPr>
                </a:tc>
                <a:tc>
                  <a:txBody>
                    <a:bodyPr/>
                    <a:lstStyle/>
                    <a:p>
                      <a:pPr>
                        <a:defRPr sz="1200">
                          <a:solidFill>
                            <a:srgbClr val="262626"/>
                          </a:solidFill>
                          <a:latin typeface="Calibri"/>
                        </a:defRPr>
                      </a:pPr>
                      <a:r>
                        <a:t>validation / type mismatch</a:t>
                      </a:r>
                    </a:p>
                  </a:txBody>
                  <a:tcPr anchor="ctr" marT="25400" marB="25400" marL="88900" marR="88900">
                    <a:solidFill>
                      <a:srgbClr val="ECE6FB"/>
                    </a:solidFill>
                  </a:tcPr>
                </a:tc>
              </a:tr>
              <a:tr h="502920">
                <a:tc>
                  <a:txBody>
                    <a:bodyPr/>
                    <a:lstStyle/>
                    <a:p>
                      <a:pPr>
                        <a:defRPr sz="1200">
                          <a:solidFill>
                            <a:srgbClr val="262626"/>
                          </a:solidFill>
                          <a:latin typeface="Calibri"/>
                        </a:defRPr>
                      </a:pPr>
                      <a:r>
                        <a:t>503</a:t>
                      </a:r>
                    </a:p>
                  </a:txBody>
                  <a:tcPr anchor="ctr" marT="25400" marB="25400" marL="88900" marR="88900">
                    <a:solidFill>
                      <a:srgbClr val="FFFFFF"/>
                    </a:solidFill>
                  </a:tcPr>
                </a:tc>
                <a:tc>
                  <a:txBody>
                    <a:bodyPr/>
                    <a:lstStyle/>
                    <a:p>
                      <a:pPr>
                        <a:defRPr sz="1200">
                          <a:solidFill>
                            <a:srgbClr val="262626"/>
                          </a:solidFill>
                          <a:latin typeface="Calibri"/>
                        </a:defRPr>
                      </a:pPr>
                      <a:r>
                        <a:t>database unavailable</a:t>
                      </a:r>
                    </a:p>
                  </a:txBody>
                  <a:tcPr anchor="ctr" marT="25400" marB="25400" marL="88900" marR="88900">
                    <a:solidFill>
                      <a:srgbClr val="FFFFFF"/>
                    </a:solidFill>
                  </a:tcPr>
                </a:tc>
              </a:tr>
            </a:tbl>
          </a:graphicData>
        </a:graphic>
      </p:graphicFrame>
      <p:sp>
        <p:nvSpPr>
          <p:cNvPr id="6" name="Rounded Rectangle 5"/>
          <p:cNvSpPr/>
          <p:nvPr/>
        </p:nvSpPr>
        <p:spPr>
          <a:xfrm>
            <a:off x="7726679" y="3703320"/>
            <a:ext cx="3931920" cy="1920240"/>
          </a:xfrm>
          <a:prstGeom prst="roundRect">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101600" bIns="76200"/>
          <a:lstStyle/>
          <a:p>
            <a:pPr algn="ctr">
              <a:spcAft>
                <a:spcPts val="400"/>
              </a:spcAft>
              <a:defRPr sz="1500" b="1">
                <a:solidFill>
                  <a:srgbClr val="5F1EBE"/>
                </a:solidFill>
                <a:latin typeface="Calibri Light"/>
              </a:defRPr>
            </a:pPr>
            <a:r>
              <a:t>Error contract</a:t>
            </a:r>
          </a:p>
          <a:p>
            <a:pPr>
              <a:spcAft>
                <a:spcPts val="300"/>
              </a:spcAft>
              <a:defRPr sz="1200">
                <a:solidFill>
                  <a:srgbClr val="262626"/>
                </a:solidFill>
                <a:latin typeface="Calibri"/>
              </a:defRPr>
            </a:pPr>
            <a:r>
              <a:t>•  Structured body: timestamp, status, message</a:t>
            </a:r>
          </a:p>
          <a:p>
            <a:pPr>
              <a:spcAft>
                <a:spcPts val="300"/>
              </a:spcAft>
              <a:defRPr sz="1200">
                <a:solidFill>
                  <a:srgbClr val="262626"/>
                </a:solidFill>
                <a:latin typeface="Calibri"/>
              </a:defRPr>
            </a:pPr>
            <a:r>
              <a:t>•  Stack traces &amp; internal class names never exposed</a:t>
            </a:r>
          </a:p>
          <a:p>
            <a:pPr>
              <a:spcAft>
                <a:spcPts val="300"/>
              </a:spcAft>
              <a:defRPr sz="1200">
                <a:solidFill>
                  <a:srgbClr val="262626"/>
                </a:solidFill>
                <a:latin typeface="Calibri"/>
              </a:defRPr>
            </a:pPr>
            <a:r>
              <a:t>•  search value is never logged (PII safe)</a:t>
            </a:r>
          </a:p>
        </p:txBody>
      </p:sp>
      <p:sp>
        <p:nvSpPr>
          <p:cNvPr id="7" name="TextBox 6"/>
          <p:cNvSpPr txBox="1"/>
          <p:nvPr/>
        </p:nvSpPr>
        <p:spPr>
          <a:xfrm>
            <a:off x="548640" y="5989320"/>
            <a:ext cx="11064240" cy="548640"/>
          </a:xfrm>
          <a:prstGeom prst="rect">
            <a:avLst/>
          </a:prstGeom>
          <a:noFill/>
        </p:spPr>
        <p:txBody>
          <a:bodyPr wrap="none">
            <a:spAutoFit/>
          </a:bodyPr>
          <a:lstStyle/>
          <a:p>
            <a:pPr>
              <a:defRPr sz="1200" i="1">
                <a:solidFill>
                  <a:srgbClr val="595959"/>
                </a:solidFill>
                <a:latin typeface="Calibri"/>
              </a:defRPr>
            </a:pPr>
            <a:r>
              <a:t>All filters are optional and composable; unmatched filters simply return an empty page.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731520"/>
          </a:xfrm>
          <a:prstGeom prst="rect">
            <a:avLst/>
          </a:prstGeom>
          <a:noFill/>
        </p:spPr>
        <p:txBody>
          <a:bodyPr wrap="none">
            <a:spAutoFit/>
          </a:bodyPr>
          <a:lstStyle/>
          <a:p>
            <a:pPr>
              <a:defRPr sz="2700" b="1">
                <a:solidFill>
                  <a:srgbClr val="5F1EBE"/>
                </a:solidFill>
                <a:latin typeface="Calibri Light"/>
              </a:defRPr>
            </a:pPr>
            <a:r>
              <a:t>4. AI Working Journal</a:t>
            </a:r>
          </a:p>
        </p:txBody>
      </p:sp>
      <p:sp>
        <p:nvSpPr>
          <p:cNvPr id="3" name="Rectangle 2"/>
          <p:cNvSpPr/>
          <p:nvPr/>
        </p:nvSpPr>
        <p:spPr>
          <a:xfrm>
            <a:off x="530352" y="1024128"/>
            <a:ext cx="2194560" cy="38100"/>
          </a:xfrm>
          <a:prstGeom prst="rect">
            <a:avLst/>
          </a:prstGeom>
          <a:solidFill>
            <a:srgbClr val="5F1E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5458968" cy="2148840"/>
          </a:xfrm>
          <a:prstGeom prst="roundRect">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101600" bIns="76200"/>
          <a:lstStyle/>
          <a:p>
            <a:pPr algn="ctr">
              <a:spcAft>
                <a:spcPts val="400"/>
              </a:spcAft>
              <a:defRPr sz="1500" b="1">
                <a:solidFill>
                  <a:srgbClr val="5F1EBE"/>
                </a:solidFill>
                <a:latin typeface="Calibri Light"/>
              </a:defRPr>
            </a:pPr>
            <a:r>
              <a:t>Accepted</a:t>
            </a:r>
          </a:p>
          <a:p>
            <a:pPr>
              <a:spcAft>
                <a:spcPts val="300"/>
              </a:spcAft>
              <a:defRPr sz="1200">
                <a:solidFill>
                  <a:srgbClr val="262626"/>
                </a:solidFill>
                <a:latin typeface="Calibri"/>
              </a:defRPr>
            </a:pPr>
            <a:r>
              <a:t>•  Feature, schema, Docker, branching &amp; k6 requests built as specified</a:t>
            </a:r>
          </a:p>
        </p:txBody>
      </p:sp>
      <p:sp>
        <p:nvSpPr>
          <p:cNvPr id="5" name="Rounded Rectangle 4"/>
          <p:cNvSpPr/>
          <p:nvPr/>
        </p:nvSpPr>
        <p:spPr>
          <a:xfrm>
            <a:off x="6199632" y="1325880"/>
            <a:ext cx="5440680" cy="2148840"/>
          </a:xfrm>
          <a:prstGeom prst="roundRect">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101600" bIns="76200"/>
          <a:lstStyle/>
          <a:p>
            <a:pPr algn="ctr">
              <a:spcAft>
                <a:spcPts val="400"/>
              </a:spcAft>
              <a:defRPr sz="1500" b="1">
                <a:solidFill>
                  <a:srgbClr val="5F1EBE"/>
                </a:solidFill>
                <a:latin typeface="Calibri Light"/>
              </a:defRPr>
            </a:pPr>
            <a:r>
              <a:t>Challenged / pushed back</a:t>
            </a:r>
          </a:p>
          <a:p>
            <a:pPr>
              <a:spcAft>
                <a:spcPts val="300"/>
              </a:spcAft>
              <a:defRPr sz="1200">
                <a:solidFill>
                  <a:srgbClr val="262626"/>
                </a:solidFill>
                <a:latin typeface="Calibri"/>
              </a:defRPr>
            </a:pPr>
            <a:r>
              <a:t>•  Fixed 3 layering violations (service→api, infra→service, infra→domain)</a:t>
            </a:r>
          </a:p>
          <a:p>
            <a:pPr>
              <a:spcAft>
                <a:spcPts val="300"/>
              </a:spcAft>
              <a:defRPr sz="1200">
                <a:solidFill>
                  <a:srgbClr val="262626"/>
                </a:solidFill>
                <a:latin typeface="Calibri"/>
              </a:defRPr>
            </a:pPr>
            <a:r>
              <a:t>•  Removed duplicated toTitleCase / presentation logic from the service</a:t>
            </a:r>
          </a:p>
          <a:p>
            <a:pPr>
              <a:spcAft>
                <a:spcPts val="300"/>
              </a:spcAft>
              <a:defRPr sz="1200">
                <a:solidFill>
                  <a:srgbClr val="262626"/>
                </a:solidFill>
                <a:latin typeface="Calibri"/>
              </a:defRPr>
            </a:pPr>
            <a:r>
              <a:t>•  Flagged PII: free-text search was being logged → removed it</a:t>
            </a:r>
          </a:p>
          <a:p>
            <a:pPr>
              <a:spcAft>
                <a:spcPts val="300"/>
              </a:spcAft>
              <a:defRPr sz="1200">
                <a:solidFill>
                  <a:srgbClr val="262626"/>
                </a:solidFill>
                <a:latin typeface="Calibri"/>
              </a:defRPr>
            </a:pPr>
            <a:r>
              <a:t>•  Advised against auto-merging breaking Dependabot PRs</a:t>
            </a:r>
          </a:p>
        </p:txBody>
      </p:sp>
      <p:sp>
        <p:nvSpPr>
          <p:cNvPr id="6" name="Rounded Rectangle 5"/>
          <p:cNvSpPr/>
          <p:nvPr/>
        </p:nvSpPr>
        <p:spPr>
          <a:xfrm>
            <a:off x="548640" y="3657600"/>
            <a:ext cx="5458968" cy="2148840"/>
          </a:xfrm>
          <a:prstGeom prst="roundRect">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101600" bIns="76200"/>
          <a:lstStyle/>
          <a:p>
            <a:pPr algn="ctr">
              <a:spcAft>
                <a:spcPts val="400"/>
              </a:spcAft>
              <a:defRPr sz="1500" b="1">
                <a:solidFill>
                  <a:srgbClr val="5F1EBE"/>
                </a:solidFill>
                <a:latin typeface="Calibri Light"/>
              </a:defRPr>
            </a:pPr>
            <a:r>
              <a:t>Overrode / steered</a:t>
            </a:r>
          </a:p>
          <a:p>
            <a:pPr>
              <a:spcAft>
                <a:spcPts val="300"/>
              </a:spcAft>
              <a:defRPr sz="1200">
                <a:solidFill>
                  <a:srgbClr val="262626"/>
                </a:solidFill>
                <a:latin typeface="Calibri"/>
              </a:defRPr>
            </a:pPr>
            <a:r>
              <a:t>•  Moved openapi.yaml to static/ so Swagger serves the contract</a:t>
            </a:r>
          </a:p>
          <a:p>
            <a:pPr>
              <a:spcAft>
                <a:spcPts val="300"/>
              </a:spcAft>
              <a:defRPr sz="1200">
                <a:solidFill>
                  <a:srgbClr val="262626"/>
                </a:solidFill>
                <a:latin typeface="Calibri"/>
              </a:defRPr>
            </a:pPr>
            <a:r>
              <a:t>•  Coverage gate: line ≥ 80%, then instruction ≥ 85%</a:t>
            </a:r>
          </a:p>
          <a:p>
            <a:pPr>
              <a:spcAft>
                <a:spcPts val="300"/>
              </a:spcAft>
              <a:defRPr sz="1200">
                <a:solidFill>
                  <a:srgbClr val="262626"/>
                </a:solidFill>
                <a:latin typeface="Calibri"/>
              </a:defRPr>
            </a:pPr>
            <a:r>
              <a:t>•  Added Dockerfile.local to build behind the TLS proxy</a:t>
            </a:r>
          </a:p>
        </p:txBody>
      </p:sp>
      <p:sp>
        <p:nvSpPr>
          <p:cNvPr id="7" name="Rounded Rectangle 6"/>
          <p:cNvSpPr/>
          <p:nvPr/>
        </p:nvSpPr>
        <p:spPr>
          <a:xfrm>
            <a:off x="6199632" y="3657600"/>
            <a:ext cx="5440680" cy="2148840"/>
          </a:xfrm>
          <a:prstGeom prst="roundRect">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101600" bIns="76200"/>
          <a:lstStyle/>
          <a:p>
            <a:pPr algn="ctr">
              <a:spcAft>
                <a:spcPts val="400"/>
              </a:spcAft>
              <a:defRPr sz="1500" b="1">
                <a:solidFill>
                  <a:srgbClr val="5F1EBE"/>
                </a:solidFill>
                <a:latin typeface="Calibri Light"/>
              </a:defRPr>
            </a:pPr>
            <a:r>
              <a:t>Corrected (self)</a:t>
            </a:r>
          </a:p>
          <a:p>
            <a:pPr>
              <a:spcAft>
                <a:spcPts val="300"/>
              </a:spcAft>
              <a:defRPr sz="1200">
                <a:solidFill>
                  <a:srgbClr val="262626"/>
                </a:solidFill>
                <a:latin typeface="Calibri"/>
              </a:defRPr>
            </a:pPr>
            <a:r>
              <a:t>•  Retracted the “JPA enums on domain POJO” caveat after verifying</a:t>
            </a:r>
          </a:p>
          <a:p>
            <a:pPr>
              <a:spcAft>
                <a:spcPts val="300"/>
              </a:spcAft>
              <a:defRPr sz="1200">
                <a:solidFill>
                  <a:srgbClr val="262626"/>
                </a:solidFill>
                <a:latin typeface="Calibri"/>
              </a:defRPr>
            </a:pPr>
            <a:r>
              <a:t>•  the domain is genuinely framework-free</a:t>
            </a:r>
          </a:p>
        </p:txBody>
      </p:sp>
      <p:sp>
        <p:nvSpPr>
          <p:cNvPr id="8" name="TextBox 7"/>
          <p:cNvSpPr txBox="1"/>
          <p:nvPr/>
        </p:nvSpPr>
        <p:spPr>
          <a:xfrm>
            <a:off x="548640" y="5989320"/>
            <a:ext cx="11064240" cy="548640"/>
          </a:xfrm>
          <a:prstGeom prst="rect">
            <a:avLst/>
          </a:prstGeom>
          <a:noFill/>
        </p:spPr>
        <p:txBody>
          <a:bodyPr wrap="none">
            <a:spAutoFit/>
          </a:bodyPr>
          <a:lstStyle/>
          <a:p>
            <a:pPr>
              <a:defRPr sz="1200" i="1">
                <a:solidFill>
                  <a:srgbClr val="595959"/>
                </a:solidFill>
                <a:latin typeface="Calibri"/>
              </a:defRPr>
            </a:pPr>
            <a:r>
              <a:t>Full chronological log: docs/AI-WORKING-JOURNAL.md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731520"/>
          </a:xfrm>
          <a:prstGeom prst="rect">
            <a:avLst/>
          </a:prstGeom>
          <a:noFill/>
        </p:spPr>
        <p:txBody>
          <a:bodyPr wrap="none">
            <a:spAutoFit/>
          </a:bodyPr>
          <a:lstStyle/>
          <a:p>
            <a:pPr>
              <a:defRPr sz="2700" b="1">
                <a:solidFill>
                  <a:srgbClr val="5F1EBE"/>
                </a:solidFill>
                <a:latin typeface="Calibri Light"/>
              </a:defRPr>
            </a:pPr>
            <a:r>
              <a:t>5. Testing Strategy</a:t>
            </a:r>
          </a:p>
        </p:txBody>
      </p:sp>
      <p:sp>
        <p:nvSpPr>
          <p:cNvPr id="3" name="Rectangle 2"/>
          <p:cNvSpPr/>
          <p:nvPr/>
        </p:nvSpPr>
        <p:spPr>
          <a:xfrm>
            <a:off x="530352" y="1024128"/>
            <a:ext cx="2194560" cy="38100"/>
          </a:xfrm>
          <a:prstGeom prst="rect">
            <a:avLst/>
          </a:prstGeom>
          <a:solidFill>
            <a:srgbClr val="5F1E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71600"/>
            <a:ext cx="2670048" cy="1234440"/>
          </a:xfrm>
          <a:prstGeom prst="roundRect">
            <a:avLst/>
          </a:prstGeom>
          <a:solidFill>
            <a:srgbClr val="5F1EB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ctr">
              <a:spcAft>
                <a:spcPts val="200"/>
              </a:spcAft>
              <a:defRPr sz="3000" b="1">
                <a:solidFill>
                  <a:srgbClr val="FFFFFF"/>
                </a:solidFill>
                <a:latin typeface="Calibri"/>
              </a:defRPr>
            </a:pPr>
            <a:r>
              <a:t>38</a:t>
            </a:r>
          </a:p>
          <a:p>
            <a:pPr algn="ctr">
              <a:spcAft>
                <a:spcPts val="200"/>
              </a:spcAft>
              <a:defRPr sz="1150" b="0">
                <a:solidFill>
                  <a:srgbClr val="FFFFFF"/>
                </a:solidFill>
                <a:latin typeface="Calibri"/>
              </a:defRPr>
            </a:pPr>
            <a:r>
              <a:t>automated tests</a:t>
            </a:r>
          </a:p>
        </p:txBody>
      </p:sp>
      <p:sp>
        <p:nvSpPr>
          <p:cNvPr id="5" name="Rounded Rectangle 4"/>
          <p:cNvSpPr/>
          <p:nvPr/>
        </p:nvSpPr>
        <p:spPr>
          <a:xfrm>
            <a:off x="3337560" y="1371600"/>
            <a:ext cx="2670048" cy="1234440"/>
          </a:xfrm>
          <a:prstGeom prst="roundRect">
            <a:avLst/>
          </a:prstGeom>
          <a:solidFill>
            <a:srgbClr val="5F1EB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ctr">
              <a:spcAft>
                <a:spcPts val="200"/>
              </a:spcAft>
              <a:defRPr sz="3000" b="1">
                <a:solidFill>
                  <a:srgbClr val="FFFFFF"/>
                </a:solidFill>
                <a:latin typeface="Calibri"/>
              </a:defRPr>
            </a:pPr>
            <a:r>
              <a:t>92.5%</a:t>
            </a:r>
          </a:p>
          <a:p>
            <a:pPr algn="ctr">
              <a:spcAft>
                <a:spcPts val="200"/>
              </a:spcAft>
              <a:defRPr sz="1150" b="0">
                <a:solidFill>
                  <a:srgbClr val="FFFFFF"/>
                </a:solidFill>
                <a:latin typeface="Calibri"/>
              </a:defRPr>
            </a:pPr>
            <a:r>
              <a:t>line coverage · gated ≥ 80%</a:t>
            </a:r>
          </a:p>
        </p:txBody>
      </p:sp>
      <p:sp>
        <p:nvSpPr>
          <p:cNvPr id="6" name="Rounded Rectangle 5"/>
          <p:cNvSpPr/>
          <p:nvPr/>
        </p:nvSpPr>
        <p:spPr>
          <a:xfrm>
            <a:off x="6126479" y="1371600"/>
            <a:ext cx="2670048" cy="1234440"/>
          </a:xfrm>
          <a:prstGeom prst="roundRect">
            <a:avLst/>
          </a:prstGeom>
          <a:solidFill>
            <a:srgbClr val="5F1EB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ctr">
              <a:spcAft>
                <a:spcPts val="200"/>
              </a:spcAft>
              <a:defRPr sz="3000" b="1">
                <a:solidFill>
                  <a:srgbClr val="FFFFFF"/>
                </a:solidFill>
                <a:latin typeface="Calibri"/>
              </a:defRPr>
            </a:pPr>
            <a:r>
              <a:t>~150ms</a:t>
            </a:r>
          </a:p>
          <a:p>
            <a:pPr algn="ctr">
              <a:spcAft>
                <a:spcPts val="200"/>
              </a:spcAft>
              <a:defRPr sz="1150" b="0">
                <a:solidFill>
                  <a:srgbClr val="FFFFFF"/>
                </a:solidFill>
                <a:latin typeface="Calibri"/>
              </a:defRPr>
            </a:pPr>
            <a:r>
              <a:t>p95 list latency @ 50 VUs</a:t>
            </a:r>
          </a:p>
        </p:txBody>
      </p:sp>
      <p:sp>
        <p:nvSpPr>
          <p:cNvPr id="7" name="Rounded Rectangle 6"/>
          <p:cNvSpPr/>
          <p:nvPr/>
        </p:nvSpPr>
        <p:spPr>
          <a:xfrm>
            <a:off x="8915400" y="1371600"/>
            <a:ext cx="2670048" cy="1234440"/>
          </a:xfrm>
          <a:prstGeom prst="roundRect">
            <a:avLst/>
          </a:prstGeom>
          <a:solidFill>
            <a:srgbClr val="5F1EB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ctr">
              <a:spcAft>
                <a:spcPts val="200"/>
              </a:spcAft>
              <a:defRPr sz="3000" b="1">
                <a:solidFill>
                  <a:srgbClr val="FFFFFF"/>
                </a:solidFill>
                <a:latin typeface="Calibri"/>
              </a:defRPr>
            </a:pPr>
            <a:r>
              <a:t>0</a:t>
            </a:r>
          </a:p>
          <a:p>
            <a:pPr algn="ctr">
              <a:spcAft>
                <a:spcPts val="200"/>
              </a:spcAft>
              <a:defRPr sz="1150" b="0">
                <a:solidFill>
                  <a:srgbClr val="FFFFFF"/>
                </a:solidFill>
                <a:latin typeface="Calibri"/>
              </a:defRPr>
            </a:pPr>
            <a:r>
              <a:t>errors under load</a:t>
            </a:r>
          </a:p>
        </p:txBody>
      </p:sp>
      <p:sp>
        <p:nvSpPr>
          <p:cNvPr id="8" name="Rounded Rectangle 7"/>
          <p:cNvSpPr/>
          <p:nvPr/>
        </p:nvSpPr>
        <p:spPr>
          <a:xfrm>
            <a:off x="548640" y="2880360"/>
            <a:ext cx="5532120" cy="2743200"/>
          </a:xfrm>
          <a:prstGeom prst="roundRect">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101600" bIns="76200"/>
          <a:lstStyle/>
          <a:p>
            <a:pPr algn="ctr">
              <a:spcAft>
                <a:spcPts val="400"/>
              </a:spcAft>
              <a:defRPr sz="1500" b="1">
                <a:solidFill>
                  <a:srgbClr val="5F1EBE"/>
                </a:solidFill>
                <a:latin typeface="Calibri Light"/>
              </a:defRPr>
            </a:pPr>
            <a:r>
              <a:t>Test layers</a:t>
            </a:r>
          </a:p>
          <a:p>
            <a:pPr>
              <a:spcAft>
                <a:spcPts val="300"/>
              </a:spcAft>
              <a:defRPr sz="1200">
                <a:solidFill>
                  <a:srgbClr val="262626"/>
                </a:solidFill>
                <a:latin typeface="Calibri"/>
              </a:defRPr>
            </a:pPr>
            <a:r>
              <a:t>•  Service unit tests — repository port mocked</a:t>
            </a:r>
          </a:p>
          <a:p>
            <a:pPr>
              <a:spcAft>
                <a:spcPts val="300"/>
              </a:spcAft>
              <a:defRPr sz="1200">
                <a:solidFill>
                  <a:srgbClr val="262626"/>
                </a:solidFill>
                <a:latin typeface="Calibri"/>
              </a:defRPr>
            </a:pPr>
            <a:r>
              <a:t>•  Caching tests — verify hits + eviction on flag</a:t>
            </a:r>
          </a:p>
          <a:p>
            <a:pPr>
              <a:spcAft>
                <a:spcPts val="300"/>
              </a:spcAft>
              <a:defRPr sz="1200">
                <a:solidFill>
                  <a:srgbClr val="262626"/>
                </a:solidFill>
                <a:latin typeface="Calibri"/>
              </a:defRPr>
            </a:pPr>
            <a:r>
              <a:t>•  Controller slice — real mapper, MockMvc</a:t>
            </a:r>
          </a:p>
          <a:p>
            <a:pPr>
              <a:spcAft>
                <a:spcPts val="300"/>
              </a:spcAft>
              <a:defRPr sz="1200">
                <a:solidFill>
                  <a:srgbClr val="262626"/>
                </a:solidFill>
                <a:latin typeface="Calibri"/>
              </a:defRPr>
            </a:pPr>
            <a:r>
              <a:t>•  Full-stack acceptance on Testcontainers PostgreSQL (@Transactional rollback)</a:t>
            </a:r>
          </a:p>
          <a:p>
            <a:pPr>
              <a:spcAft>
                <a:spcPts val="300"/>
              </a:spcAft>
              <a:defRPr sz="1200">
                <a:solidFill>
                  <a:srgbClr val="262626"/>
                </a:solidFill>
                <a:latin typeface="Calibri"/>
              </a:defRPr>
            </a:pPr>
            <a:r>
              <a:t>•  DB-failure path — returns 503, no stack trace</a:t>
            </a:r>
          </a:p>
          <a:p>
            <a:pPr>
              <a:spcAft>
                <a:spcPts val="300"/>
              </a:spcAft>
              <a:defRPr sz="1200">
                <a:solidFill>
                  <a:srgbClr val="262626"/>
                </a:solidFill>
                <a:latin typeface="Calibri"/>
              </a:defRPr>
            </a:pPr>
            <a:r>
              <a:t>•  Edge/negative: bad enum/UUID → 400, no match → empty page</a:t>
            </a:r>
          </a:p>
        </p:txBody>
      </p:sp>
      <p:sp>
        <p:nvSpPr>
          <p:cNvPr id="9" name="Rounded Rectangle 8"/>
          <p:cNvSpPr/>
          <p:nvPr/>
        </p:nvSpPr>
        <p:spPr>
          <a:xfrm>
            <a:off x="6263640" y="2880360"/>
            <a:ext cx="5394960" cy="2743200"/>
          </a:xfrm>
          <a:prstGeom prst="roundRect">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101600" bIns="76200"/>
          <a:lstStyle/>
          <a:p>
            <a:pPr algn="ctr">
              <a:spcAft>
                <a:spcPts val="400"/>
              </a:spcAft>
              <a:defRPr sz="1500" b="1">
                <a:solidFill>
                  <a:srgbClr val="5F1EBE"/>
                </a:solidFill>
                <a:latin typeface="Calibri Light"/>
              </a:defRPr>
            </a:pPr>
            <a:r>
              <a:t>Coverage &amp; performance gates</a:t>
            </a:r>
          </a:p>
          <a:p>
            <a:pPr>
              <a:spcAft>
                <a:spcPts val="300"/>
              </a:spcAft>
              <a:defRPr sz="1200">
                <a:solidFill>
                  <a:srgbClr val="262626"/>
                </a:solidFill>
                <a:latin typeface="Calibri"/>
              </a:defRPr>
            </a:pPr>
            <a:r>
              <a:t>•  JaCoCo: line ≥ 80% and instruction ≥ 85% (Lombok excluded)</a:t>
            </a:r>
          </a:p>
          <a:p>
            <a:pPr>
              <a:spcAft>
                <a:spcPts val="300"/>
              </a:spcAft>
              <a:defRPr sz="1200">
                <a:solidFill>
                  <a:srgbClr val="262626"/>
                </a:solidFill>
                <a:latin typeface="Calibri"/>
              </a:defRPr>
            </a:pPr>
            <a:r>
              <a:t>•  Measured: 92.5% line / 93.9% instruction</a:t>
            </a:r>
          </a:p>
          <a:p>
            <a:pPr>
              <a:spcAft>
                <a:spcPts val="300"/>
              </a:spcAft>
              <a:defRPr sz="1200">
                <a:solidFill>
                  <a:srgbClr val="262626"/>
                </a:solidFill>
                <a:latin typeface="Calibri"/>
              </a:defRPr>
            </a:pPr>
            <a:r>
              <a:t>•  Gatling load test runs in the build (in-build gate)</a:t>
            </a:r>
          </a:p>
          <a:p>
            <a:pPr>
              <a:spcAft>
                <a:spcPts val="300"/>
              </a:spcAft>
              <a:defRPr sz="1200">
                <a:solidFill>
                  <a:srgbClr val="262626"/>
                </a:solidFill>
                <a:latin typeface="Calibri"/>
              </a:defRPr>
            </a:pPr>
            <a:r>
              <a:t>•  k6 script for ad-hoc load runs</a:t>
            </a:r>
          </a:p>
          <a:p>
            <a:pPr>
              <a:spcAft>
                <a:spcPts val="300"/>
              </a:spcAft>
              <a:defRPr sz="1200">
                <a:solidFill>
                  <a:srgbClr val="262626"/>
                </a:solidFill>
                <a:latin typeface="Calibri"/>
              </a:defRPr>
            </a:pPr>
            <a:r>
              <a:t>•  Target met: p95 &lt; 300ms list &amp; detail @ 50 sessions</a:t>
            </a:r>
          </a:p>
          <a:p>
            <a:pPr>
              <a:spcAft>
                <a:spcPts val="300"/>
              </a:spcAft>
              <a:defRPr sz="1200">
                <a:solidFill>
                  <a:srgbClr val="262626"/>
                </a:solidFill>
                <a:latin typeface="Calibri"/>
              </a:defRPr>
            </a:pPr>
            <a:r>
              <a:t>•  mvn verify must pass before the image is published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44</Words>
  <Application>Microsoft Office PowerPoint</Application>
  <PresentationFormat>Widescreen</PresentationFormat>
  <Paragraphs>20</Paragraphs>
  <Slides>8</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vt:i4>
      </vt:variant>
    </vt:vector>
  </HeadingPairs>
  <TitlesOfParts>
    <vt:vector size="14" baseType="lpstr">
      <vt:lpstr>Aptos</vt:lpstr>
      <vt:lpstr>Arial</vt:lpstr>
      <vt:lpstr>Calibri</vt:lpstr>
      <vt:lpstr>Calibri Light</vt:lpstr>
      <vt:lpstr>HCLTech Roobert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Ravi Ganapavarapu</dc:creator>
  <cp:lastModifiedBy>Ravi Ganapavarapu</cp:lastModifiedBy>
  <cp:revision>1</cp:revision>
  <dcterms:created xsi:type="dcterms:W3CDTF">2026-06-09T13:02:41Z</dcterms:created>
  <dcterms:modified xsi:type="dcterms:W3CDTF">2026-06-09T13:03:26Z</dcterms:modified>
</cp:coreProperties>
</file>