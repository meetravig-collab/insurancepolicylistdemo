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77" r:id="rId2"/>
    <p:sldId id="2147472225" r:id="rId3"/>
    <p:sldId id="256" r:id="rId4"/>
    <p:sldId id="257" r:id="rId5"/>
    <p:sldId id="2147472226" r:id="rId6"/>
    <p:sldId id="2147472227" r:id="rId7"/>
    <p:sldId id="2147472228" r:id="rId8"/>
    <p:sldId id="214747222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32CD3-80BE-4400-B0FD-AA184D52B09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0AF21-0A34-4130-AB30-E6AFE1AF1E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1200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5AF4B5-3E5C-F84D-A668-6F62F852D3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752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5AF4B5-3E5C-F84D-A668-6F62F852D3B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413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45392-4AF4-B222-E6F4-09E012FBA8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855F3-B6E0-A423-5F96-A9721CEFE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C92D-01BC-69A8-1FB3-41BBF4B64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CAD9F-5312-D053-C02F-9A3ADC31D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5DE77-03B4-E01E-D01B-48A3846A5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63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5861-57CF-2EFF-8CB6-40DE9FB0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2C341-F44A-2AA0-F6BC-5BF2D085D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4D0E5-6793-BA22-3199-42672E02E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89AAD-FC91-5418-95EC-0FDA3CEAD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D3FBB-8222-B4F8-B51B-79EDC6CB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9216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71E99-83EC-1E92-4EE5-0CD949799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F56C-6060-D758-0392-D16BD66E8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4B32B-8524-56DC-E383-3BE74365E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1E89F-FD93-F97F-750C-F25A71AC9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F20F0-B268-0D9F-3611-97CCB1448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4513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26104-EB8E-905C-25BF-7E6E2B020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9ECFE-E8A1-4D6B-4FAA-6B5CA0A26A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43AEF-1B94-0721-7D2E-6B53F9A1A3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69D85A-90BE-4B76-D852-F2EFF6997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9C98E-7309-F89E-8211-AA3423262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BFFBA-1607-C7C2-0BCA-D3F2FBF4D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368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4F0FC-58BB-1A99-94A1-375AC67E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F9B40-1D41-B5AA-83FC-1DCD7616C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77B1AA-28F5-AD9B-AACD-51F7C8E7D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757B81-96F7-2831-CAB9-525C5584B2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4F43D8-EA4F-BCD8-6153-381805963C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BD20B9-FA05-6BB0-8A72-790E0B8B7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35708-F1DC-5AB1-D9F4-FD33F2F97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E88EE2-EA14-21A2-6C38-A66DB0F2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355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6BD2A-FCC8-04E8-7572-5F111375B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99E6E-614D-879A-54F5-97C2B8C4D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E4A04-EE77-4319-ADDA-4A1CE61D7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A849D-AC12-EA01-F624-D762D5501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6766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1C6932-92B5-5A87-F0B9-A83208884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6341DD-7E19-C3F4-9196-7EBDF4D3A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905E4-8B6E-3C53-B706-F92A5CA34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6722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93467-2BDC-A650-461D-67F0768A5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76F8D-0620-B261-1711-B1019A55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C9378-B831-D402-3A2C-598295199B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CFB0B-7752-ECD1-66F1-D0B81232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AE0FC-FDCF-61AE-5A34-79DD2770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4D352-4394-B0F1-1A2E-CA414A94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45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2545-A1C7-40EC-3FE1-C82720D85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DFF387-B532-CC3D-5C9E-9F36D51F1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036FD-2768-E32C-A90C-C8D658ADF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77819-76DF-AF3B-B770-457ABD27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FBBFE-A436-F436-7835-B1297E714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A678A-3EC8-EDD4-2C75-21EEFFE04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483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AFD0F-DF23-8E05-B9E4-42345B50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258FA-533D-932C-CBD8-5BFA430B8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0154B-43CC-40BA-5ACB-1E9CA2A5B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1AD53-D446-90D5-5D5F-7A766B92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8D4A4-D325-187E-482F-2F700A939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056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302B07-1D6D-E6AE-5016-4FA083E9D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06717D-AE46-AE5E-2BCB-87BDD177B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58040-5D6A-0DAA-F0FA-07ADB0F03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0A5A3-629D-22AC-8490-D0E0185F2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EA014-8F1B-08F5-0BB6-1938413F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09913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object 2">
            <a:extLst>
              <a:ext uri="{FF2B5EF4-FFF2-40B4-BE49-F238E27FC236}">
                <a16:creationId xmlns:a16="http://schemas.microsoft.com/office/drawing/2014/main" id="{DF2FE585-DEB2-9385-A233-004B9D7FC0B3}"/>
              </a:ext>
            </a:extLst>
          </p:cNvPr>
          <p:cNvGrpSpPr/>
          <p:nvPr/>
        </p:nvGrpSpPr>
        <p:grpSpPr>
          <a:xfrm>
            <a:off x="0" y="0"/>
            <a:ext cx="12191999" cy="6858000"/>
            <a:chOff x="0" y="0"/>
            <a:chExt cx="20104099" cy="11308556"/>
          </a:xfrm>
        </p:grpSpPr>
        <p:pic>
          <p:nvPicPr>
            <p:cNvPr id="39" name="object 3">
              <a:extLst>
                <a:ext uri="{FF2B5EF4-FFF2-40B4-BE49-F238E27FC236}">
                  <a16:creationId xmlns:a16="http://schemas.microsoft.com/office/drawing/2014/main" id="{5C931129-D884-3125-BA58-033EC34B811E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0"/>
              <a:ext cx="20104099" cy="11308556"/>
            </a:xfrm>
            <a:prstGeom prst="rect">
              <a:avLst/>
            </a:prstGeom>
          </p:spPr>
        </p:pic>
        <p:pic>
          <p:nvPicPr>
            <p:cNvPr id="41" name="object 5">
              <a:extLst>
                <a:ext uri="{FF2B5EF4-FFF2-40B4-BE49-F238E27FC236}">
                  <a16:creationId xmlns:a16="http://schemas.microsoft.com/office/drawing/2014/main" id="{38B18016-7766-3B76-F702-BCA8FBC8BF14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99322" y="831967"/>
              <a:ext cx="6592804" cy="732510"/>
            </a:xfrm>
            <a:prstGeom prst="rect">
              <a:avLst/>
            </a:prstGeom>
          </p:spPr>
        </p:pic>
      </p:grpSp>
      <p:pic>
        <p:nvPicPr>
          <p:cNvPr id="38" name="object 9">
            <a:extLst>
              <a:ext uri="{FF2B5EF4-FFF2-40B4-BE49-F238E27FC236}">
                <a16:creationId xmlns:a16="http://schemas.microsoft.com/office/drawing/2014/main" id="{96F89763-5FAC-F534-07B2-89D560CF33DD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48861" y="0"/>
            <a:ext cx="7843139" cy="6828364"/>
          </a:xfrm>
          <a:prstGeom prst="rect">
            <a:avLst/>
          </a:prstGeom>
        </p:spPr>
      </p:pic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AE8F102E-DC00-DBE1-F4B3-1BD3932464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2196502"/>
            <a:ext cx="6578600" cy="1412875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9BE1CC7-79AA-A1F6-65FF-9B022A7EC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3748640"/>
            <a:ext cx="6578600" cy="63330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0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9E6DC15-6519-CB80-B41E-4A4D08F55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4930805"/>
            <a:ext cx="6578600" cy="1000542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3039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296">
          <p15:clr>
            <a:srgbClr val="FBAE40"/>
          </p15:clr>
        </p15:guide>
        <p15:guide id="3" pos="384">
          <p15:clr>
            <a:srgbClr val="FBAE40"/>
          </p15:clr>
        </p15:guide>
        <p15:guide id="4" pos="57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379B5CB1-5DBC-3B2B-FA56-8014B25C7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85276" y="170671"/>
            <a:ext cx="3871300" cy="6182698"/>
          </a:xfrm>
          <a:prstGeom prst="roundRect">
            <a:avLst>
              <a:gd name="adj" fmla="val 1457"/>
            </a:avLst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B1973D-758E-4746-292C-7E06C4660076}"/>
              </a:ext>
            </a:extLst>
          </p:cNvPr>
          <p:cNvSpPr/>
          <p:nvPr userDrawn="1"/>
        </p:nvSpPr>
        <p:spPr>
          <a:xfrm>
            <a:off x="190500" y="6524625"/>
            <a:ext cx="3009900" cy="2476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77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F8123-C023-BD17-F969-52902FB55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F17698-CFC3-B104-BEF9-6AFA5142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11FD7-2239-1D93-9FA3-C73687349B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483C-48C6-1851-0752-1232B540F9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7DB10-9E25-0180-BB57-FDC6B26C1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768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90DF3D-6B47-AD79-1AA7-3D8A011FEE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0503" y="2428297"/>
            <a:ext cx="6541411" cy="965014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HCLTech Roobert" panose="020B0504030202060203" pitchFamily="34" charset="0"/>
                <a:cs typeface="HCLTech Roobert" panose="020B0504030202060203" pitchFamily="34" charset="0"/>
              </a:rPr>
              <a:t>Chubb – Project Radical</a:t>
            </a:r>
          </a:p>
          <a:p>
            <a:pPr marL="0" indent="0">
              <a:buNone/>
            </a:pPr>
            <a:r>
              <a:rPr lang="en-US" sz="2000" dirty="0">
                <a:latin typeface="HCLTech Roobert" panose="020B0504030202060203" pitchFamily="34" charset="0"/>
                <a:cs typeface="HCLTech Roobert" panose="020B0504030202060203" pitchFamily="34" charset="0"/>
              </a:rPr>
              <a:t>Take-home Assessment Submission</a:t>
            </a:r>
            <a:endParaRPr lang="en-US" sz="2000" b="1" dirty="0">
              <a:solidFill>
                <a:schemeClr val="bg1"/>
              </a:solidFill>
              <a:latin typeface="HCLTech Roobert" panose="020B0504030202060203" pitchFamily="34" charset="0"/>
              <a:cs typeface="HCLTech Roobert" panose="020B0504030202060203" pitchFamily="34" charset="0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897CC6C5-A4C4-E725-82DA-B57DEE310A8B}"/>
              </a:ext>
            </a:extLst>
          </p:cNvPr>
          <p:cNvSpPr txBox="1">
            <a:spLocks/>
          </p:cNvSpPr>
          <p:nvPr/>
        </p:nvSpPr>
        <p:spPr>
          <a:xfrm>
            <a:off x="687087" y="4217377"/>
            <a:ext cx="6057960" cy="965014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b="1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 b="0" dirty="0">
              <a:latin typeface="HCLTech Roobert" panose="020B0504030202060203" pitchFamily="34" charset="0"/>
              <a:cs typeface="HCLTech Roobert" panose="020B0504030202060203" pitchFamily="34" charset="0"/>
            </a:endParaRPr>
          </a:p>
          <a:p>
            <a:r>
              <a:rPr lang="en-US" sz="2400" b="0" dirty="0">
                <a:latin typeface="HCLTech Roobert" panose="020B0504030202060203" pitchFamily="34" charset="0"/>
                <a:cs typeface="HCLTech Roobert" panose="020B0504030202060203" pitchFamily="34" charset="0"/>
              </a:rPr>
              <a:t>Policy Overview Dashboard</a:t>
            </a:r>
          </a:p>
          <a:p>
            <a:endParaRPr lang="en-US" sz="2400" b="0" dirty="0">
              <a:latin typeface="HCLTech Roobert" panose="020B0504030202060203" pitchFamily="34" charset="0"/>
              <a:cs typeface="HCLTech Roobert" panose="020B0504030202060203" pitchFamily="34" charset="0"/>
            </a:endParaRPr>
          </a:p>
          <a:p>
            <a:r>
              <a:rPr lang="en-US" sz="2400" b="0" dirty="0">
                <a:latin typeface="HCLTech Roobert" panose="020B0504030202060203" pitchFamily="34" charset="0"/>
                <a:cs typeface="HCLTech Roobert" panose="020B0504030202060203" pitchFamily="34" charset="0"/>
              </a:rPr>
              <a:t>By Ravi G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DF68CBF-8848-D4E7-1B4C-76CDF62C8340}"/>
              </a:ext>
            </a:extLst>
          </p:cNvPr>
          <p:cNvSpPr txBox="1">
            <a:spLocks/>
          </p:cNvSpPr>
          <p:nvPr/>
        </p:nvSpPr>
        <p:spPr>
          <a:xfrm>
            <a:off x="610503" y="4900496"/>
            <a:ext cx="11367231" cy="1412877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b="1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</a:rPr>
              <a:t>Jun 10, 2026</a:t>
            </a:r>
          </a:p>
        </p:txBody>
      </p:sp>
    </p:spTree>
    <p:extLst>
      <p:ext uri="{BB962C8B-B14F-4D97-AF65-F5344CB8AC3E}">
        <p14:creationId xmlns:p14="http://schemas.microsoft.com/office/powerpoint/2010/main" val="831996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4">
            <a:extLst>
              <a:ext uri="{FF2B5EF4-FFF2-40B4-BE49-F238E27FC236}">
                <a16:creationId xmlns:a16="http://schemas.microsoft.com/office/drawing/2014/main" id="{37EC8BA2-9E81-D5F2-E409-10AD780181DD}"/>
              </a:ext>
            </a:extLst>
          </p:cNvPr>
          <p:cNvGraphicFramePr>
            <a:graphicFrameLocks noGrp="1"/>
          </p:cNvGraphicFramePr>
          <p:nvPr/>
        </p:nvGraphicFramePr>
        <p:xfrm>
          <a:off x="4615316" y="1859149"/>
          <a:ext cx="7229138" cy="31991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3422">
                  <a:extLst>
                    <a:ext uri="{9D8B030D-6E8A-4147-A177-3AD203B41FA5}">
                      <a16:colId xmlns:a16="http://schemas.microsoft.com/office/drawing/2014/main" val="3817094022"/>
                    </a:ext>
                  </a:extLst>
                </a:gridCol>
                <a:gridCol w="6545716">
                  <a:extLst>
                    <a:ext uri="{9D8B030D-6E8A-4147-A177-3AD203B41FA5}">
                      <a16:colId xmlns:a16="http://schemas.microsoft.com/office/drawing/2014/main" val="1451733573"/>
                    </a:ext>
                  </a:extLst>
                </a:gridCol>
              </a:tblGrid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1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Architecture Design &amp; Decisions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520857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2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GIT details &amp; working platform 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32316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3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API Specification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017611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4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HCLTech Roobert" panose="020B0504030202060203" pitchFamily="34" charset="0"/>
                          <a:cs typeface="HCLTech Roobert" panose="020B0504030202060203" pitchFamily="34" charset="0"/>
                        </a:rPr>
                        <a:t>AI Working Journal</a:t>
                      </a:r>
                      <a:endParaRPr kumimoji="0" 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uLnTx/>
                        <a:uFillTx/>
                        <a:latin typeface="HCLTech Roobert" panose="020B0504030202060203" pitchFamily="34" charset="77"/>
                        <a:ea typeface="+mn-ea"/>
                        <a:cs typeface="HCLTech Roobert" panose="020B0504030202060203" pitchFamily="34" charset="77"/>
                      </a:endParaRP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1932003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5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Testing Strategy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156234"/>
                  </a:ext>
                </a:extLst>
              </a:tr>
            </a:tbl>
          </a:graphicData>
        </a:graphic>
      </p:graphicFrame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E8C3DB-A52A-0E2F-A6B4-4DE5BB4A2C96}"/>
              </a:ext>
            </a:extLst>
          </p:cNvPr>
          <p:cNvSpPr txBox="1">
            <a:spLocks/>
          </p:cNvSpPr>
          <p:nvPr/>
        </p:nvSpPr>
        <p:spPr>
          <a:xfrm>
            <a:off x="5675724" y="1653773"/>
            <a:ext cx="5574167" cy="7857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/>
                </a:solidFill>
                <a:latin typeface="HCLTech Roobert" pitchFamily="50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5F1EBE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99E65-74E8-3872-EF1D-6AE5BECF0B6E}"/>
              </a:ext>
            </a:extLst>
          </p:cNvPr>
          <p:cNvSpPr txBox="1"/>
          <p:nvPr/>
        </p:nvSpPr>
        <p:spPr>
          <a:xfrm>
            <a:off x="4432151" y="245690"/>
            <a:ext cx="43622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ptos" panose="020B0004020202020204" pitchFamily="34" charset="0"/>
              </a:rPr>
              <a:t>Agenda</a:t>
            </a:r>
            <a:endParaRPr kumimoji="0" lang="en-GB" sz="3200" b="1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601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1C83F-7176-4B8F-9C6D-E1CA114EC2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Policy Overview Dashboard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14135-B595-E67F-AA71-191FC7DE27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Insurance Policy BFF — Solution Walkthrough</a:t>
            </a:r>
          </a:p>
        </p:txBody>
      </p:sp>
    </p:spTree>
    <p:extLst>
      <p:ext uri="{BB962C8B-B14F-4D97-AF65-F5344CB8AC3E}">
        <p14:creationId xmlns:p14="http://schemas.microsoft.com/office/powerpoint/2010/main" val="3906173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1. Architecture Design &amp;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Hexagonal (ports &amp; adapters); dependencies point inward: api → service → domain; infrastructure → domain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Layers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api: controller, request/response DTOs, mapper, exception handler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service: use cases (PolicyService / PolicyServiceImpl), PolicySummary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domain: framework-free Policy POJO + enums, PolicyRepositoryPort, query value objects, exception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infrastructure: PolicyEntity (JPA), PolicyJpaRepository, persistence adapter, PolicySpecification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Key decisions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DIP: service depends on domain-owned port; Spring Data adapter injected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POJO domain vs JPA entity split (mapper translates) — ORM never leaks into business logic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OCP filtering: one composable, null-safe Specification per criterion (Specification.allOf)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Flyway owns schema (V1 schema, V2 seed); Hibernate ddl-auto=validate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Caffeine caching (listings / by-id / summary) with TTL + event-based eviction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12-factor config; structured errors (404/400/503, no stack traces); Actuator health probes</a:t>
            </a:r>
          </a:p>
        </p:txBody>
      </p:sp>
    </p:spTree>
    <p:extLst>
      <p:ext uri="{BB962C8B-B14F-4D97-AF65-F5344CB8AC3E}">
        <p14:creationId xmlns:p14="http://schemas.microsoft.com/office/powerpoint/2010/main" val="1079604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2. GIT Details &amp; Working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Repository: github.com/meetravig-collab/InsurancePolicyListDemo (public)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Default branch: dev  (master kept in sync via fast-forward)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Workflow: work on dev → CI gate (mvn verify) → container image published to GHCR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Commit style: descriptive messages with Co-Authored-By trailer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Working platform / tooling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Windows 11 | JDK 17 (Temurin) | Maven 3.9 | PostgreSQL 16 | Docker Desktop | Git + GitHub CLI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CI/CD: GitHub Actions → GHCR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actions pinned to commit SHAs; Dependabot + security alerts enabled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build runs full Testcontainers suite + coverage gate before publishing the image</a:t>
            </a:r>
          </a:p>
        </p:txBody>
      </p:sp>
    </p:spTree>
    <p:extLst>
      <p:ext uri="{BB962C8B-B14F-4D97-AF65-F5344CB8AC3E}">
        <p14:creationId xmlns:p14="http://schemas.microsoft.com/office/powerpoint/2010/main" val="151431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3. API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Base path: /api/v1/policies  —  contract-first openapi.yaml served via Swagger UI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Endpoints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 — list: filter, sort, search, paginate (Spring Page)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/api/v1/policies/{id} — single policy by UUID (404 if unknown)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PATCH /api/v1/policies/flag — bulk flag for review; body { policyIds: [uuid] }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/api/v1/policies/summary — counts by status, premium by line of business, expiring-soon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List query parameters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status, region (8 APAC), lineOfBusiness (PROPERTY/CASUALTY/ACCIDENT_AND_HEALTH/MARINE)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effectiveDateFrom / effectiveDateTo (yyyy-MM-dd); search (policyNumber + policyholderName + underwriter)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page / size (default 0 / 10); sort (default effectiveDate,desc)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Errors: 404 unknown id | 400 validation/type-mismatch | 503 DB unavailable — structured, no stack traces</a:t>
            </a:r>
          </a:p>
        </p:txBody>
      </p:sp>
    </p:spTree>
    <p:extLst>
      <p:ext uri="{BB962C8B-B14F-4D97-AF65-F5344CB8AC3E}">
        <p14:creationId xmlns:p14="http://schemas.microsoft.com/office/powerpoint/2010/main" val="1933645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4. AI Working 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Accepted: feature / schema / Docker / branching / k6 requests implemented as specified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Challenged / pushed back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3 layering violations (service→api, infra→service, infra→domain leak) and fixed them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caught duplicated toTitleCase + presentation logic in the service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a stale duplicate load test; advised against auto-merging breaking Dependabot PRs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PII risk — free-text search value was being logged — and removed it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Overrode: openapi → static/ for Swagger; line-gate then instruction-gate coverage; Dockerfile.local for proxy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Corrected: retracted the ‘JPA enums on domain POJO’ caveat after validating the domain is framework-free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Full log committed at docs/AI-WORKING-JOURNAL.md</a:t>
            </a:r>
          </a:p>
        </p:txBody>
      </p:sp>
    </p:spTree>
    <p:extLst>
      <p:ext uri="{BB962C8B-B14F-4D97-AF65-F5344CB8AC3E}">
        <p14:creationId xmlns:p14="http://schemas.microsoft.com/office/powerpoint/2010/main" val="1290552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5. 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Layered suite (38 tests)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service unit (port mocked) | caching (hits + eviction) | controller slice (real mapper)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full-stack acceptance on Testcontainers PostgreSQL (@Transactional rollback) | DB-failure path (503)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Edge / negative: invalid enum → 400, malformed UUID → 400, no match → empty page, flag unknown → no-op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Coverage: 92.5% line / 93.9% instruction (Lombok excluded); gated line ≥ 80%, instruction ≥ 85% (JaCoCo)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Load testing: Gatling (in-build gate) + k6; p95 &lt; 300ms for list &amp; detail @ 50 concurrent sessions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measured: list ~150ms, detail ~80ms, 0 errors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CI: mvn verify (Testcontainers + coverage gate) must pass before the image is published</a:t>
            </a:r>
          </a:p>
        </p:txBody>
      </p:sp>
    </p:spTree>
    <p:extLst>
      <p:ext uri="{BB962C8B-B14F-4D97-AF65-F5344CB8AC3E}">
        <p14:creationId xmlns:p14="http://schemas.microsoft.com/office/powerpoint/2010/main" val="1647963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20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HCLTech Roobert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Ganapavarapu</dc:creator>
  <cp:lastModifiedBy>Ravi Ganapavarapu</cp:lastModifiedBy>
  <cp:revision>1</cp:revision>
  <dcterms:created xsi:type="dcterms:W3CDTF">2026-06-09T13:02:41Z</dcterms:created>
  <dcterms:modified xsi:type="dcterms:W3CDTF">2026-06-09T13:03:26Z</dcterms:modified>
</cp:coreProperties>
</file>